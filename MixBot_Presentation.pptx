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028"/>
        </a:solidFill>
        <a:effectLst/>
      </p:bgPr>
    </p:bg>
    <p:spTree>
      <p:nvGrpSpPr>
        <p:cNvPr id="1" name=""/>
        <p:cNvGrpSpPr/>
        <p:nvPr/>
      </p:nvGrpSpPr>
      <p:grpSpPr/>
      <p:sp>
        <p:nvSpPr>
          <p:cNvPr id="2" name="Oval 1"/>
          <p:cNvSpPr/>
          <p:nvPr/>
        </p:nvSpPr>
        <p:spPr>
          <a:xfrm>
            <a:off x="3913899" y="1056995"/>
            <a:ext cx="96097" cy="96097"/>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7450" y="3521513"/>
            <a:ext cx="70014" cy="7001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1111" y="3339434"/>
            <a:ext cx="40004" cy="4000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179102" y="538570"/>
            <a:ext cx="44870" cy="4487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73952" y="5383955"/>
            <a:ext cx="47896" cy="4789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754914" y="4107514"/>
            <a:ext cx="123234" cy="12323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31936" y="2630512"/>
            <a:ext cx="125844" cy="12584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19579" y="5586324"/>
            <a:ext cx="63057" cy="63057"/>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44906" y="845404"/>
            <a:ext cx="64783" cy="6478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585830" y="1248233"/>
            <a:ext cx="89757" cy="89757"/>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544083" y="2475082"/>
            <a:ext cx="86661" cy="86661"/>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06299" y="472935"/>
            <a:ext cx="55408" cy="5540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22067" y="2828372"/>
            <a:ext cx="65301" cy="65301"/>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29395" y="2992182"/>
            <a:ext cx="63986" cy="6398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335275" y="4565563"/>
            <a:ext cx="58896" cy="5889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01068" y="3453117"/>
            <a:ext cx="116598" cy="11659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587140" y="1934472"/>
            <a:ext cx="126203" cy="12620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543167" y="2767760"/>
            <a:ext cx="105808" cy="10580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933960" y="3221195"/>
            <a:ext cx="40161" cy="40161"/>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81688" y="4985305"/>
            <a:ext cx="88973" cy="8897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69645" y="2099675"/>
            <a:ext cx="100153" cy="10015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030876" y="3803233"/>
            <a:ext cx="78291" cy="78291"/>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5840" y="502920"/>
            <a:ext cx="10149840" cy="5852160"/>
          </a:xfrm>
          <a:prstGeom prst="rect">
            <a:avLst/>
          </a:prstGeom>
          <a:solidFill>
            <a:srgbClr val="0B1735"/>
          </a:solidFill>
          <a:ln w="101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05840" y="502920"/>
            <a:ext cx="10149840"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0" y="960120"/>
            <a:ext cx="1645920" cy="1097280"/>
          </a:xfrm>
          <a:prstGeom prst="rect">
            <a:avLst/>
          </a:prstGeom>
          <a:noFill/>
        </p:spPr>
        <p:txBody>
          <a:bodyPr wrap="square">
            <a:spAutoFit/>
          </a:bodyPr>
          <a:lstStyle/>
          <a:p>
            <a:pPr algn="ctr"/>
            <a:r>
              <a:rPr sz="5600" b="0" i="0">
                <a:solidFill>
                  <a:srgbClr val="FFFFFF"/>
                </a:solidFill>
              </a:rPr>
              <a:t>🍹</a:t>
            </a:r>
          </a:p>
        </p:txBody>
      </p:sp>
      <p:sp>
        <p:nvSpPr>
          <p:cNvPr id="27" name="TextBox 26"/>
          <p:cNvSpPr txBox="1"/>
          <p:nvPr/>
        </p:nvSpPr>
        <p:spPr>
          <a:xfrm>
            <a:off x="1371600" y="1920240"/>
            <a:ext cx="9418320" cy="1188720"/>
          </a:xfrm>
          <a:prstGeom prst="rect">
            <a:avLst/>
          </a:prstGeom>
          <a:noFill/>
        </p:spPr>
        <p:txBody>
          <a:bodyPr wrap="square">
            <a:spAutoFit/>
          </a:bodyPr>
          <a:lstStyle/>
          <a:p>
            <a:pPr algn="ctr"/>
            <a:r>
              <a:rPr sz="7800" b="1" i="0">
                <a:solidFill>
                  <a:srgbClr val="D4AF37"/>
                </a:solidFill>
              </a:rPr>
              <a:t>MixBot</a:t>
            </a:r>
          </a:p>
        </p:txBody>
      </p:sp>
      <p:sp>
        <p:nvSpPr>
          <p:cNvPr id="28" name="TextBox 27"/>
          <p:cNvSpPr txBox="1"/>
          <p:nvPr/>
        </p:nvSpPr>
        <p:spPr>
          <a:xfrm>
            <a:off x="1828800" y="3063240"/>
            <a:ext cx="8503920" cy="594360"/>
          </a:xfrm>
          <a:prstGeom prst="rect">
            <a:avLst/>
          </a:prstGeom>
          <a:noFill/>
        </p:spPr>
        <p:txBody>
          <a:bodyPr wrap="square">
            <a:spAutoFit/>
          </a:bodyPr>
          <a:lstStyle/>
          <a:p>
            <a:pPr algn="ctr"/>
            <a:r>
              <a:rPr sz="2400" b="0" i="1">
                <a:solidFill>
                  <a:srgbClr val="AAAACC"/>
                </a:solidFill>
              </a:rPr>
              <a:t>AI-Powered Cocktail Mixologist</a:t>
            </a:r>
          </a:p>
        </p:txBody>
      </p:sp>
      <p:sp>
        <p:nvSpPr>
          <p:cNvPr id="29" name="Rectangle 28"/>
          <p:cNvSpPr/>
          <p:nvPr/>
        </p:nvSpPr>
        <p:spPr>
          <a:xfrm>
            <a:off x="3200400" y="3703320"/>
            <a:ext cx="5760720" cy="3200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28800" y="3840480"/>
            <a:ext cx="8503920" cy="457200"/>
          </a:xfrm>
          <a:prstGeom prst="rect">
            <a:avLst/>
          </a:prstGeom>
          <a:noFill/>
        </p:spPr>
        <p:txBody>
          <a:bodyPr wrap="square">
            <a:spAutoFit/>
          </a:bodyPr>
          <a:lstStyle/>
          <a:p>
            <a:pPr algn="ctr"/>
            <a:r>
              <a:rPr sz="1350" b="0" i="0">
                <a:solidFill>
                  <a:srgbClr val="AAAACC"/>
                </a:solidFill>
              </a:rPr>
              <a:t>Google Gemini 2.0 Flash   ·   FastAPI   ·   OpenRouter   ·   Google OAuth</a:t>
            </a:r>
          </a:p>
        </p:txBody>
      </p:sp>
      <p:sp>
        <p:nvSpPr>
          <p:cNvPr id="31" name="Rectangle 30"/>
          <p:cNvSpPr/>
          <p:nvPr/>
        </p:nvSpPr>
        <p:spPr>
          <a:xfrm>
            <a:off x="1005840" y="5943600"/>
            <a:ext cx="10149840" cy="32004"/>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71600" y="6035040"/>
            <a:ext cx="9418320" cy="365760"/>
          </a:xfrm>
          <a:prstGeom prst="rect">
            <a:avLst/>
          </a:prstGeom>
          <a:noFill/>
        </p:spPr>
        <p:txBody>
          <a:bodyPr wrap="square">
            <a:spAutoFit/>
          </a:bodyPr>
          <a:lstStyle/>
          <a:p>
            <a:pPr algn="ctr"/>
            <a:r>
              <a:rPr sz="1100" b="0" i="0">
                <a:solidFill>
                  <a:srgbClr val="666688"/>
                </a:solidFill>
              </a:rPr>
              <a:t>AI Essentials Capstone Project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028"/>
        </a:solidFill>
        <a:effectLst/>
      </p:bgPr>
    </p:bg>
    <p:spTree>
      <p:nvGrpSpPr>
        <p:cNvPr id="1" name=""/>
        <p:cNvGrpSpPr/>
        <p:nvPr/>
      </p:nvGrpSpPr>
      <p:grpSpPr/>
      <p:sp>
        <p:nvSpPr>
          <p:cNvPr id="2" name="Oval 1"/>
          <p:cNvSpPr/>
          <p:nvPr/>
        </p:nvSpPr>
        <p:spPr>
          <a:xfrm>
            <a:off x="5650617" y="4299789"/>
            <a:ext cx="97512" cy="975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5841" y="160955"/>
            <a:ext cx="70843" cy="7084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340309" y="5278315"/>
            <a:ext cx="99723" cy="9972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112531" y="3664302"/>
            <a:ext cx="97047" cy="97047"/>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56977" y="2908142"/>
            <a:ext cx="51413" cy="5141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620993" y="467962"/>
            <a:ext cx="111448" cy="1114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42490" y="4488440"/>
            <a:ext cx="67391" cy="67391"/>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844619" y="5483495"/>
            <a:ext cx="38277" cy="38277"/>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3207" y="5948387"/>
            <a:ext cx="83112" cy="831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31077" y="6409887"/>
            <a:ext cx="123143" cy="12314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12188952" cy="1371600"/>
          </a:xfrm>
          <a:prstGeom prst="rect">
            <a:avLst/>
          </a:prstGeom>
          <a:solidFill>
            <a:srgbClr val="08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371600"/>
            <a:ext cx="12188952" cy="3200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64592"/>
            <a:ext cx="8229600" cy="731520"/>
          </a:xfrm>
          <a:prstGeom prst="rect">
            <a:avLst/>
          </a:prstGeom>
          <a:noFill/>
        </p:spPr>
        <p:txBody>
          <a:bodyPr wrap="square">
            <a:spAutoFit/>
          </a:bodyPr>
          <a:lstStyle/>
          <a:p>
            <a:pPr algn="l"/>
            <a:r>
              <a:rPr sz="3200" b="1" i="0">
                <a:solidFill>
                  <a:srgbClr val="D4AF37"/>
                </a:solidFill>
              </a:rPr>
              <a:t>Project Overview</a:t>
            </a:r>
          </a:p>
        </p:txBody>
      </p:sp>
      <p:sp>
        <p:nvSpPr>
          <p:cNvPr id="15" name="TextBox 14"/>
          <p:cNvSpPr txBox="1"/>
          <p:nvPr/>
        </p:nvSpPr>
        <p:spPr>
          <a:xfrm>
            <a:off x="502920" y="841248"/>
            <a:ext cx="8229600" cy="457200"/>
          </a:xfrm>
          <a:prstGeom prst="rect">
            <a:avLst/>
          </a:prstGeom>
          <a:noFill/>
        </p:spPr>
        <p:txBody>
          <a:bodyPr wrap="square">
            <a:spAutoFit/>
          </a:bodyPr>
          <a:lstStyle/>
          <a:p>
            <a:pPr algn="l"/>
            <a:r>
              <a:rPr sz="1300" b="0" i="0">
                <a:solidFill>
                  <a:srgbClr val="AAAACC"/>
                </a:solidFill>
              </a:rPr>
              <a:t>What is MixBot and why was it built?</a:t>
            </a:r>
          </a:p>
        </p:txBody>
      </p:sp>
      <p:pic>
        <p:nvPicPr>
          <p:cNvPr id="16" name="Picture 15" descr="ss_01_landing_1777229468860.png"/>
          <p:cNvPicPr>
            <a:picLocks noChangeAspect="1"/>
          </p:cNvPicPr>
          <p:nvPr/>
        </p:nvPicPr>
        <p:blipFill>
          <a:blip r:embed="rId2"/>
          <a:stretch>
            <a:fillRect/>
          </a:stretch>
        </p:blipFill>
        <p:spPr>
          <a:xfrm>
            <a:off x="365760" y="1508760"/>
            <a:ext cx="5074920" cy="3566160"/>
          </a:xfrm>
          <a:prstGeom prst="rect">
            <a:avLst/>
          </a:prstGeom>
        </p:spPr>
      </p:pic>
      <p:sp>
        <p:nvSpPr>
          <p:cNvPr id="17" name="Rectangle 16"/>
          <p:cNvSpPr/>
          <p:nvPr/>
        </p:nvSpPr>
        <p:spPr>
          <a:xfrm>
            <a:off x="365760" y="1508760"/>
            <a:ext cx="5074920" cy="3566160"/>
          </a:xfrm>
          <a:prstGeom prst="rect">
            <a:avLst/>
          </a:prstGeom>
          <a:no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s_02_login_modal_1777229484942.png"/>
          <p:cNvPicPr>
            <a:picLocks noChangeAspect="1"/>
          </p:cNvPicPr>
          <p:nvPr/>
        </p:nvPicPr>
        <p:blipFill>
          <a:blip r:embed="rId3"/>
          <a:stretch>
            <a:fillRect/>
          </a:stretch>
        </p:blipFill>
        <p:spPr>
          <a:xfrm>
            <a:off x="5623560" y="1508760"/>
            <a:ext cx="2834640" cy="3566160"/>
          </a:xfrm>
          <a:prstGeom prst="rect">
            <a:avLst/>
          </a:prstGeom>
        </p:spPr>
      </p:pic>
      <p:sp>
        <p:nvSpPr>
          <p:cNvPr id="19" name="Rectangle 18"/>
          <p:cNvSpPr/>
          <p:nvPr/>
        </p:nvSpPr>
        <p:spPr>
          <a:xfrm>
            <a:off x="5623560" y="1508760"/>
            <a:ext cx="2834640" cy="3566160"/>
          </a:xfrm>
          <a:prstGeom prst="rect">
            <a:avLst/>
          </a:prstGeom>
          <a:no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41080" y="1508760"/>
            <a:ext cx="3154680" cy="3566160"/>
          </a:xfrm>
          <a:prstGeom prst="rect">
            <a:avLst/>
          </a:prstGeom>
          <a:solidFill>
            <a:srgbClr val="112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41080" y="1508760"/>
            <a:ext cx="36576" cy="35661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3960" y="1664208"/>
            <a:ext cx="2926080" cy="457200"/>
          </a:xfrm>
          <a:prstGeom prst="rect">
            <a:avLst/>
          </a:prstGeom>
          <a:noFill/>
        </p:spPr>
        <p:txBody>
          <a:bodyPr wrap="square">
            <a:spAutoFit/>
          </a:bodyPr>
          <a:lstStyle/>
          <a:p>
            <a:pPr algn="l"/>
            <a:r>
              <a:rPr sz="1500" b="1" i="0">
                <a:solidFill>
                  <a:srgbClr val="F0CC60"/>
                </a:solidFill>
              </a:rPr>
              <a:t>About the Project</a:t>
            </a:r>
          </a:p>
        </p:txBody>
      </p:sp>
      <p:sp>
        <p:nvSpPr>
          <p:cNvPr id="23" name="Rectangle 22"/>
          <p:cNvSpPr/>
          <p:nvPr/>
        </p:nvSpPr>
        <p:spPr>
          <a:xfrm>
            <a:off x="8823960" y="2148840"/>
            <a:ext cx="2651760" cy="228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23960" y="2240280"/>
            <a:ext cx="2880360" cy="2011680"/>
          </a:xfrm>
          <a:prstGeom prst="rect">
            <a:avLst/>
          </a:prstGeom>
          <a:noFill/>
        </p:spPr>
        <p:txBody>
          <a:bodyPr wrap="square">
            <a:spAutoFit/>
          </a:bodyPr>
          <a:lstStyle/>
          <a:p>
            <a:pPr algn="l"/>
            <a:r>
              <a:rPr sz="1150" b="0" i="0">
                <a:solidFill>
                  <a:srgbClr val="AAAACC"/>
                </a:solidFill>
              </a:rPr>
              <a:t>MixBot is a full-stack AI web app that acts as your personal bartender. It uses Gemini 2.0 Flash to understand natural language and craft unique cocktail recipes, substitutions and party plans in real time — all personalised per user.</a:t>
            </a:r>
          </a:p>
        </p:txBody>
      </p:sp>
      <p:sp>
        <p:nvSpPr>
          <p:cNvPr id="25" name="Oval 24"/>
          <p:cNvSpPr/>
          <p:nvPr/>
        </p:nvSpPr>
        <p:spPr>
          <a:xfrm>
            <a:off x="8823960" y="4215384"/>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06840" y="4160520"/>
            <a:ext cx="2697480" cy="320040"/>
          </a:xfrm>
          <a:prstGeom prst="rect">
            <a:avLst/>
          </a:prstGeom>
          <a:noFill/>
        </p:spPr>
        <p:txBody>
          <a:bodyPr wrap="square">
            <a:spAutoFit/>
          </a:bodyPr>
          <a:lstStyle/>
          <a:p>
            <a:pPr algn="l"/>
            <a:r>
              <a:rPr sz="1100" b="0" i="0">
                <a:solidFill>
                  <a:srgbClr val="FFFFFF"/>
                </a:solidFill>
              </a:rPr>
              <a:t>🌐  Web-based chat interface</a:t>
            </a:r>
          </a:p>
        </p:txBody>
      </p:sp>
      <p:sp>
        <p:nvSpPr>
          <p:cNvPr id="27" name="Oval 26"/>
          <p:cNvSpPr/>
          <p:nvPr/>
        </p:nvSpPr>
        <p:spPr>
          <a:xfrm>
            <a:off x="8823960" y="4572000"/>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4517136"/>
            <a:ext cx="2697480" cy="320040"/>
          </a:xfrm>
          <a:prstGeom prst="rect">
            <a:avLst/>
          </a:prstGeom>
          <a:noFill/>
        </p:spPr>
        <p:txBody>
          <a:bodyPr wrap="square">
            <a:spAutoFit/>
          </a:bodyPr>
          <a:lstStyle/>
          <a:p>
            <a:pPr algn="l"/>
            <a:r>
              <a:rPr sz="1100" b="0" i="0">
                <a:solidFill>
                  <a:srgbClr val="FFFFFF"/>
                </a:solidFill>
              </a:rPr>
              <a:t>🔐  JWT + Google OAuth</a:t>
            </a:r>
          </a:p>
        </p:txBody>
      </p:sp>
      <p:sp>
        <p:nvSpPr>
          <p:cNvPr id="29" name="Oval 28"/>
          <p:cNvSpPr/>
          <p:nvPr/>
        </p:nvSpPr>
        <p:spPr>
          <a:xfrm>
            <a:off x="8823960" y="4928616"/>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6840" y="4873752"/>
            <a:ext cx="2697480" cy="320040"/>
          </a:xfrm>
          <a:prstGeom prst="rect">
            <a:avLst/>
          </a:prstGeom>
          <a:noFill/>
        </p:spPr>
        <p:txBody>
          <a:bodyPr wrap="square">
            <a:spAutoFit/>
          </a:bodyPr>
          <a:lstStyle/>
          <a:p>
            <a:pPr algn="l"/>
            <a:r>
              <a:rPr sz="1100" b="0" i="0">
                <a:solidFill>
                  <a:srgbClr val="FFFFFF"/>
                </a:solidFill>
              </a:rPr>
              <a:t>🗄  SQLite persistent history</a:t>
            </a:r>
          </a:p>
        </p:txBody>
      </p:sp>
      <p:sp>
        <p:nvSpPr>
          <p:cNvPr id="31" name="Oval 30"/>
          <p:cNvSpPr/>
          <p:nvPr/>
        </p:nvSpPr>
        <p:spPr>
          <a:xfrm>
            <a:off x="8823960" y="5285232"/>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6840" y="5230368"/>
            <a:ext cx="2697480" cy="320040"/>
          </a:xfrm>
          <a:prstGeom prst="rect">
            <a:avLst/>
          </a:prstGeom>
          <a:noFill/>
        </p:spPr>
        <p:txBody>
          <a:bodyPr wrap="square">
            <a:spAutoFit/>
          </a:bodyPr>
          <a:lstStyle/>
          <a:p>
            <a:pPr algn="l"/>
            <a:r>
              <a:rPr sz="1100" b="0" i="0">
                <a:solidFill>
                  <a:srgbClr val="FFFFFF"/>
                </a:solidFill>
              </a:rPr>
              <a:t>👑  Full admin control panel</a:t>
            </a:r>
          </a:p>
        </p:txBody>
      </p:sp>
      <p:sp>
        <p:nvSpPr>
          <p:cNvPr id="33" name="Rectangle 32"/>
          <p:cNvSpPr/>
          <p:nvPr/>
        </p:nvSpPr>
        <p:spPr>
          <a:xfrm>
            <a:off x="365760" y="5230368"/>
            <a:ext cx="7589520" cy="347472"/>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5266944"/>
            <a:ext cx="7406640" cy="274320"/>
          </a:xfrm>
          <a:prstGeom prst="rect">
            <a:avLst/>
          </a:prstGeom>
          <a:noFill/>
        </p:spPr>
        <p:txBody>
          <a:bodyPr wrap="square">
            <a:spAutoFit/>
          </a:bodyPr>
          <a:lstStyle/>
          <a:p>
            <a:pPr algn="l"/>
            <a:r>
              <a:rPr sz="950" b="0" i="1">
                <a:solidFill>
                  <a:srgbClr val="666688"/>
                </a:solidFill>
              </a:rPr>
              <a:t>← Landing hero page (unauthenticated)      ← Login modal with Google OAuth support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028"/>
        </a:solidFill>
        <a:effectLst/>
      </p:bgPr>
    </p:bg>
    <p:spTree>
      <p:nvGrpSpPr>
        <p:cNvPr id="1" name=""/>
        <p:cNvGrpSpPr/>
        <p:nvPr/>
      </p:nvGrpSpPr>
      <p:grpSpPr/>
      <p:sp>
        <p:nvSpPr>
          <p:cNvPr id="2" name="Oval 1"/>
          <p:cNvSpPr/>
          <p:nvPr/>
        </p:nvSpPr>
        <p:spPr>
          <a:xfrm>
            <a:off x="6753884" y="4138236"/>
            <a:ext cx="111282" cy="11128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377669" y="4263865"/>
            <a:ext cx="118031" cy="118031"/>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53893" y="1285269"/>
            <a:ext cx="96169" cy="96169"/>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92959" y="3313563"/>
            <a:ext cx="124925" cy="124925"/>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69267" y="2941422"/>
            <a:ext cx="122855" cy="122855"/>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506135" y="2019965"/>
            <a:ext cx="64854" cy="6485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898672" y="428109"/>
            <a:ext cx="92133" cy="9213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60984" y="2819088"/>
            <a:ext cx="113987" cy="113987"/>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874598" y="3647775"/>
            <a:ext cx="98878" cy="9887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33853" y="450009"/>
            <a:ext cx="126189" cy="126189"/>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12188952" cy="1371600"/>
          </a:xfrm>
          <a:prstGeom prst="rect">
            <a:avLst/>
          </a:prstGeom>
          <a:solidFill>
            <a:srgbClr val="08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371600"/>
            <a:ext cx="12188952" cy="3200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64592"/>
            <a:ext cx="8229600" cy="731520"/>
          </a:xfrm>
          <a:prstGeom prst="rect">
            <a:avLst/>
          </a:prstGeom>
          <a:noFill/>
        </p:spPr>
        <p:txBody>
          <a:bodyPr wrap="square">
            <a:spAutoFit/>
          </a:bodyPr>
          <a:lstStyle/>
          <a:p>
            <a:pPr algn="l"/>
            <a:r>
              <a:rPr sz="3200" b="1" i="0">
                <a:solidFill>
                  <a:srgbClr val="D4AF37"/>
                </a:solidFill>
              </a:rPr>
              <a:t>Core Features</a:t>
            </a:r>
          </a:p>
        </p:txBody>
      </p:sp>
      <p:sp>
        <p:nvSpPr>
          <p:cNvPr id="15" name="TextBox 14"/>
          <p:cNvSpPr txBox="1"/>
          <p:nvPr/>
        </p:nvSpPr>
        <p:spPr>
          <a:xfrm>
            <a:off x="502920" y="841248"/>
            <a:ext cx="8229600" cy="457200"/>
          </a:xfrm>
          <a:prstGeom prst="rect">
            <a:avLst/>
          </a:prstGeom>
          <a:noFill/>
        </p:spPr>
        <p:txBody>
          <a:bodyPr wrap="square">
            <a:spAutoFit/>
          </a:bodyPr>
          <a:lstStyle/>
          <a:p>
            <a:pPr algn="l"/>
            <a:r>
              <a:rPr sz="1300" b="0" i="0">
                <a:solidFill>
                  <a:srgbClr val="AAAACC"/>
                </a:solidFill>
              </a:rPr>
              <a:t>Everything MixBot can do for you</a:t>
            </a:r>
          </a:p>
        </p:txBody>
      </p:sp>
      <p:sp>
        <p:nvSpPr>
          <p:cNvPr id="16" name="Rectangle 15"/>
          <p:cNvSpPr/>
          <p:nvPr/>
        </p:nvSpPr>
        <p:spPr>
          <a:xfrm>
            <a:off x="365760" y="1508760"/>
            <a:ext cx="3703320" cy="2057400"/>
          </a:xfrm>
          <a:prstGeom prst="rect">
            <a:avLst/>
          </a:prstGeom>
          <a:solidFill>
            <a:srgbClr val="0E1C40"/>
          </a:solidFill>
          <a:ln w="7620">
            <a:solidFill>
              <a:srgbClr val="223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1508760"/>
            <a:ext cx="36576" cy="2057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655064"/>
            <a:ext cx="3502152" cy="411480"/>
          </a:xfrm>
          <a:prstGeom prst="rect">
            <a:avLst/>
          </a:prstGeom>
          <a:noFill/>
        </p:spPr>
        <p:txBody>
          <a:bodyPr wrap="square">
            <a:spAutoFit/>
          </a:bodyPr>
          <a:lstStyle/>
          <a:p>
            <a:pPr algn="l"/>
            <a:r>
              <a:rPr sz="1450" b="1" i="0">
                <a:solidFill>
                  <a:srgbClr val="F0CC60"/>
                </a:solidFill>
              </a:rPr>
              <a:t>🍸  AI Chat Bartender</a:t>
            </a:r>
          </a:p>
        </p:txBody>
      </p:sp>
      <p:sp>
        <p:nvSpPr>
          <p:cNvPr id="19" name="Rectangle 18"/>
          <p:cNvSpPr/>
          <p:nvPr/>
        </p:nvSpPr>
        <p:spPr>
          <a:xfrm>
            <a:off x="530352" y="2103120"/>
            <a:ext cx="3383280" cy="18288"/>
          </a:xfrm>
          <a:prstGeom prst="rect">
            <a:avLst/>
          </a:prstGeom>
          <a:solidFill>
            <a:srgbClr val="2A3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2194560"/>
            <a:ext cx="3429000" cy="1234440"/>
          </a:xfrm>
          <a:prstGeom prst="rect">
            <a:avLst/>
          </a:prstGeom>
          <a:noFill/>
        </p:spPr>
        <p:txBody>
          <a:bodyPr wrap="square">
            <a:spAutoFit/>
          </a:bodyPr>
          <a:lstStyle/>
          <a:p>
            <a:pPr algn="l"/>
            <a:r>
              <a:rPr sz="1150" b="0" i="0">
                <a:solidFill>
                  <a:srgbClr val="AAAACC"/>
                </a:solidFill>
              </a:rPr>
              <a:t>Powered by Gemini 2.0 Flash. Ask for recipes, substitutions, pairing advice, or party plans in plain English.</a:t>
            </a:r>
          </a:p>
        </p:txBody>
      </p:sp>
      <p:sp>
        <p:nvSpPr>
          <p:cNvPr id="21" name="Rectangle 20"/>
          <p:cNvSpPr/>
          <p:nvPr/>
        </p:nvSpPr>
        <p:spPr>
          <a:xfrm>
            <a:off x="4270248" y="1508760"/>
            <a:ext cx="3703320" cy="2057400"/>
          </a:xfrm>
          <a:prstGeom prst="rect">
            <a:avLst/>
          </a:prstGeom>
          <a:solidFill>
            <a:srgbClr val="0E1C40"/>
          </a:solidFill>
          <a:ln w="7620">
            <a:solidFill>
              <a:srgbClr val="223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70248" y="1508760"/>
            <a:ext cx="36576" cy="2057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1655064"/>
            <a:ext cx="3502152" cy="411480"/>
          </a:xfrm>
          <a:prstGeom prst="rect">
            <a:avLst/>
          </a:prstGeom>
          <a:noFill/>
        </p:spPr>
        <p:txBody>
          <a:bodyPr wrap="square">
            <a:spAutoFit/>
          </a:bodyPr>
          <a:lstStyle/>
          <a:p>
            <a:pPr algn="l"/>
            <a:r>
              <a:rPr sz="1450" b="1" i="0">
                <a:solidFill>
                  <a:srgbClr val="F0CC60"/>
                </a:solidFill>
              </a:rPr>
              <a:t>🔐  Secure Authentication</a:t>
            </a:r>
          </a:p>
        </p:txBody>
      </p:sp>
      <p:sp>
        <p:nvSpPr>
          <p:cNvPr id="24" name="Rectangle 23"/>
          <p:cNvSpPr/>
          <p:nvPr/>
        </p:nvSpPr>
        <p:spPr>
          <a:xfrm>
            <a:off x="4434840" y="2103120"/>
            <a:ext cx="3383280" cy="18288"/>
          </a:xfrm>
          <a:prstGeom prst="rect">
            <a:avLst/>
          </a:prstGeom>
          <a:solidFill>
            <a:srgbClr val="2A3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2194560"/>
            <a:ext cx="3429000" cy="1234440"/>
          </a:xfrm>
          <a:prstGeom prst="rect">
            <a:avLst/>
          </a:prstGeom>
          <a:noFill/>
        </p:spPr>
        <p:txBody>
          <a:bodyPr wrap="square">
            <a:spAutoFit/>
          </a:bodyPr>
          <a:lstStyle/>
          <a:p>
            <a:pPr algn="l"/>
            <a:r>
              <a:rPr sz="1150" b="0" i="0">
                <a:solidFill>
                  <a:srgbClr val="AAAACC"/>
                </a:solidFill>
              </a:rPr>
              <a:t>Email+password login with bcrypt hashing, or instant Google OAuth single sign-on. JWT tokens secure every request.</a:t>
            </a:r>
          </a:p>
        </p:txBody>
      </p:sp>
      <p:sp>
        <p:nvSpPr>
          <p:cNvPr id="26" name="Rectangle 25"/>
          <p:cNvSpPr/>
          <p:nvPr/>
        </p:nvSpPr>
        <p:spPr>
          <a:xfrm>
            <a:off x="8174736" y="1508760"/>
            <a:ext cx="3703320" cy="2057400"/>
          </a:xfrm>
          <a:prstGeom prst="rect">
            <a:avLst/>
          </a:prstGeom>
          <a:solidFill>
            <a:srgbClr val="0E1C40"/>
          </a:solidFill>
          <a:ln w="7620">
            <a:solidFill>
              <a:srgbClr val="223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74736" y="1508760"/>
            <a:ext cx="36576" cy="2057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655064"/>
            <a:ext cx="3502152" cy="411480"/>
          </a:xfrm>
          <a:prstGeom prst="rect">
            <a:avLst/>
          </a:prstGeom>
          <a:noFill/>
        </p:spPr>
        <p:txBody>
          <a:bodyPr wrap="square">
            <a:spAutoFit/>
          </a:bodyPr>
          <a:lstStyle/>
          <a:p>
            <a:pPr algn="l"/>
            <a:r>
              <a:rPr sz="1450" b="1" i="0">
                <a:solidFill>
                  <a:srgbClr val="F0CC60"/>
                </a:solidFill>
              </a:rPr>
              <a:t>📜  Persistent Chat History</a:t>
            </a:r>
          </a:p>
        </p:txBody>
      </p:sp>
      <p:sp>
        <p:nvSpPr>
          <p:cNvPr id="29" name="Rectangle 28"/>
          <p:cNvSpPr/>
          <p:nvPr/>
        </p:nvSpPr>
        <p:spPr>
          <a:xfrm>
            <a:off x="8339328" y="2103120"/>
            <a:ext cx="3383280" cy="18288"/>
          </a:xfrm>
          <a:prstGeom prst="rect">
            <a:avLst/>
          </a:prstGeom>
          <a:solidFill>
            <a:srgbClr val="2A3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9328" y="2194560"/>
            <a:ext cx="3429000" cy="1234440"/>
          </a:xfrm>
          <a:prstGeom prst="rect">
            <a:avLst/>
          </a:prstGeom>
          <a:noFill/>
        </p:spPr>
        <p:txBody>
          <a:bodyPr wrap="square">
            <a:spAutoFit/>
          </a:bodyPr>
          <a:lstStyle/>
          <a:p>
            <a:pPr algn="l"/>
            <a:r>
              <a:rPr sz="1150" b="0" i="0">
                <a:solidFill>
                  <a:srgbClr val="AAAACC"/>
                </a:solidFill>
              </a:rPr>
              <a:t>Conversations are saved per-user in SQLite. Sessions sync to the backend on every message — never lose a recipe.</a:t>
            </a:r>
          </a:p>
        </p:txBody>
      </p:sp>
      <p:sp>
        <p:nvSpPr>
          <p:cNvPr id="31" name="Rectangle 30"/>
          <p:cNvSpPr/>
          <p:nvPr/>
        </p:nvSpPr>
        <p:spPr>
          <a:xfrm>
            <a:off x="365760" y="3749040"/>
            <a:ext cx="3703320" cy="2057400"/>
          </a:xfrm>
          <a:prstGeom prst="rect">
            <a:avLst/>
          </a:prstGeom>
          <a:solidFill>
            <a:srgbClr val="0E1C40"/>
          </a:solidFill>
          <a:ln w="7620">
            <a:solidFill>
              <a:srgbClr val="223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3749040"/>
            <a:ext cx="36576" cy="2057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3895344"/>
            <a:ext cx="3502152" cy="411480"/>
          </a:xfrm>
          <a:prstGeom prst="rect">
            <a:avLst/>
          </a:prstGeom>
          <a:noFill/>
        </p:spPr>
        <p:txBody>
          <a:bodyPr wrap="square">
            <a:spAutoFit/>
          </a:bodyPr>
          <a:lstStyle/>
          <a:p>
            <a:pPr algn="l"/>
            <a:r>
              <a:rPr sz="1450" b="1" i="0">
                <a:solidFill>
                  <a:srgbClr val="F0CC60"/>
                </a:solidFill>
              </a:rPr>
              <a:t>👑  Admin Control Panel</a:t>
            </a:r>
          </a:p>
        </p:txBody>
      </p:sp>
      <p:sp>
        <p:nvSpPr>
          <p:cNvPr id="34" name="Rectangle 33"/>
          <p:cNvSpPr/>
          <p:nvPr/>
        </p:nvSpPr>
        <p:spPr>
          <a:xfrm>
            <a:off x="530352" y="4343400"/>
            <a:ext cx="3383280" cy="18288"/>
          </a:xfrm>
          <a:prstGeom prst="rect">
            <a:avLst/>
          </a:prstGeom>
          <a:solidFill>
            <a:srgbClr val="2A3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 y="4434840"/>
            <a:ext cx="3429000" cy="1234440"/>
          </a:xfrm>
          <a:prstGeom prst="rect">
            <a:avLst/>
          </a:prstGeom>
          <a:noFill/>
        </p:spPr>
        <p:txBody>
          <a:bodyPr wrap="square">
            <a:spAutoFit/>
          </a:bodyPr>
          <a:lstStyle/>
          <a:p>
            <a:pPr algn="l"/>
            <a:r>
              <a:rPr sz="1150" b="0" i="0">
                <a:solidFill>
                  <a:srgbClr val="AAAACC"/>
                </a:solidFill>
              </a:rPr>
              <a:t>Administrators view all users, promote/demote roles, read full chat transcripts, and delete records.</a:t>
            </a:r>
          </a:p>
        </p:txBody>
      </p:sp>
      <p:sp>
        <p:nvSpPr>
          <p:cNvPr id="36" name="Rectangle 35"/>
          <p:cNvSpPr/>
          <p:nvPr/>
        </p:nvSpPr>
        <p:spPr>
          <a:xfrm>
            <a:off x="4270248" y="3749040"/>
            <a:ext cx="3703320" cy="2057400"/>
          </a:xfrm>
          <a:prstGeom prst="rect">
            <a:avLst/>
          </a:prstGeom>
          <a:solidFill>
            <a:srgbClr val="0E1C40"/>
          </a:solidFill>
          <a:ln w="7620">
            <a:solidFill>
              <a:srgbClr val="223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70248" y="3749040"/>
            <a:ext cx="36576" cy="2057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34840" y="3895344"/>
            <a:ext cx="3502152" cy="411480"/>
          </a:xfrm>
          <a:prstGeom prst="rect">
            <a:avLst/>
          </a:prstGeom>
          <a:noFill/>
        </p:spPr>
        <p:txBody>
          <a:bodyPr wrap="square">
            <a:spAutoFit/>
          </a:bodyPr>
          <a:lstStyle/>
          <a:p>
            <a:pPr algn="l"/>
            <a:r>
              <a:rPr sz="1450" b="1" i="0">
                <a:solidFill>
                  <a:srgbClr val="F0CC60"/>
                </a:solidFill>
              </a:rPr>
              <a:t>🛡️  Rate-Limit Resilience</a:t>
            </a:r>
          </a:p>
        </p:txBody>
      </p:sp>
      <p:sp>
        <p:nvSpPr>
          <p:cNvPr id="39" name="Rectangle 38"/>
          <p:cNvSpPr/>
          <p:nvPr/>
        </p:nvSpPr>
        <p:spPr>
          <a:xfrm>
            <a:off x="4434840" y="4343400"/>
            <a:ext cx="3383280" cy="18288"/>
          </a:xfrm>
          <a:prstGeom prst="rect">
            <a:avLst/>
          </a:prstGeom>
          <a:solidFill>
            <a:srgbClr val="2A3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34840" y="4434840"/>
            <a:ext cx="3429000" cy="1234440"/>
          </a:xfrm>
          <a:prstGeom prst="rect">
            <a:avLst/>
          </a:prstGeom>
          <a:noFill/>
        </p:spPr>
        <p:txBody>
          <a:bodyPr wrap="square">
            <a:spAutoFit/>
          </a:bodyPr>
          <a:lstStyle/>
          <a:p>
            <a:pPr algn="l"/>
            <a:r>
              <a:rPr sz="1150" b="0" i="0">
                <a:solidFill>
                  <a:srgbClr val="AAAACC"/>
                </a:solidFill>
              </a:rPr>
              <a:t>Exponential back-off retries handle API quota limits. Friendly in-app messages prevent user confusion during outages.</a:t>
            </a:r>
          </a:p>
        </p:txBody>
      </p:sp>
      <p:sp>
        <p:nvSpPr>
          <p:cNvPr id="41" name="Rectangle 40"/>
          <p:cNvSpPr/>
          <p:nvPr/>
        </p:nvSpPr>
        <p:spPr>
          <a:xfrm>
            <a:off x="8174736" y="3749040"/>
            <a:ext cx="3703320" cy="2057400"/>
          </a:xfrm>
          <a:prstGeom prst="rect">
            <a:avLst/>
          </a:prstGeom>
          <a:solidFill>
            <a:srgbClr val="0E1C40"/>
          </a:solidFill>
          <a:ln w="7620">
            <a:solidFill>
              <a:srgbClr val="223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174736" y="3749040"/>
            <a:ext cx="36576" cy="2057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39328" y="3895344"/>
            <a:ext cx="3502152" cy="411480"/>
          </a:xfrm>
          <a:prstGeom prst="rect">
            <a:avLst/>
          </a:prstGeom>
          <a:noFill/>
        </p:spPr>
        <p:txBody>
          <a:bodyPr wrap="square">
            <a:spAutoFit/>
          </a:bodyPr>
          <a:lstStyle/>
          <a:p>
            <a:pPr algn="l"/>
            <a:r>
              <a:rPr sz="1450" b="1" i="0">
                <a:solidFill>
                  <a:srgbClr val="F0CC60"/>
                </a:solidFill>
              </a:rPr>
              <a:t>✨  Premium Glassmorphism UI</a:t>
            </a:r>
          </a:p>
        </p:txBody>
      </p:sp>
      <p:sp>
        <p:nvSpPr>
          <p:cNvPr id="44" name="Rectangle 43"/>
          <p:cNvSpPr/>
          <p:nvPr/>
        </p:nvSpPr>
        <p:spPr>
          <a:xfrm>
            <a:off x="8339328" y="4343400"/>
            <a:ext cx="3383280" cy="18288"/>
          </a:xfrm>
          <a:prstGeom prst="rect">
            <a:avLst/>
          </a:prstGeom>
          <a:solidFill>
            <a:srgbClr val="2A3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9328" y="4434840"/>
            <a:ext cx="3429000" cy="1234440"/>
          </a:xfrm>
          <a:prstGeom prst="rect">
            <a:avLst/>
          </a:prstGeom>
          <a:noFill/>
        </p:spPr>
        <p:txBody>
          <a:bodyPr wrap="square">
            <a:spAutoFit/>
          </a:bodyPr>
          <a:lstStyle/>
          <a:p>
            <a:pPr algn="l"/>
            <a:r>
              <a:rPr sz="1150" b="0" i="0">
                <a:solidFill>
                  <a:srgbClr val="AAAACC"/>
                </a:solidFill>
              </a:rPr>
              <a:t>Dark navy canvas, animated gold particles, glass panels, and Playfair Display typography for a luxury feel.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028"/>
        </a:solidFill>
        <a:effectLst/>
      </p:bgPr>
    </p:bg>
    <p:spTree>
      <p:nvGrpSpPr>
        <p:cNvPr id="1" name=""/>
        <p:cNvGrpSpPr/>
        <p:nvPr/>
      </p:nvGrpSpPr>
      <p:grpSpPr/>
      <p:sp>
        <p:nvSpPr>
          <p:cNvPr id="2" name="Oval 1"/>
          <p:cNvSpPr/>
          <p:nvPr/>
        </p:nvSpPr>
        <p:spPr>
          <a:xfrm>
            <a:off x="1223725" y="6176255"/>
            <a:ext cx="50289" cy="50289"/>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01491" y="5476064"/>
            <a:ext cx="104894" cy="10489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661635" y="2342114"/>
            <a:ext cx="102583" cy="10258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308517" y="4332787"/>
            <a:ext cx="86006" cy="8600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652060" y="2688498"/>
            <a:ext cx="102330" cy="10233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124324" y="3510726"/>
            <a:ext cx="94269" cy="94269"/>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470405" y="354038"/>
            <a:ext cx="57663" cy="5766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314243" y="3742125"/>
            <a:ext cx="113194" cy="11319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87597" y="1574696"/>
            <a:ext cx="82476" cy="8247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89318" y="1340166"/>
            <a:ext cx="106493" cy="10649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12188952" cy="1371600"/>
          </a:xfrm>
          <a:prstGeom prst="rect">
            <a:avLst/>
          </a:prstGeom>
          <a:solidFill>
            <a:srgbClr val="08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371600"/>
            <a:ext cx="12188952" cy="3200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64592"/>
            <a:ext cx="8229600" cy="731520"/>
          </a:xfrm>
          <a:prstGeom prst="rect">
            <a:avLst/>
          </a:prstGeom>
          <a:noFill/>
        </p:spPr>
        <p:txBody>
          <a:bodyPr wrap="square">
            <a:spAutoFit/>
          </a:bodyPr>
          <a:lstStyle/>
          <a:p>
            <a:pPr algn="l"/>
            <a:r>
              <a:rPr sz="3200" b="1" i="0">
                <a:solidFill>
                  <a:srgbClr val="D4AF37"/>
                </a:solidFill>
              </a:rPr>
              <a:t>System Architecture</a:t>
            </a:r>
          </a:p>
        </p:txBody>
      </p:sp>
      <p:sp>
        <p:nvSpPr>
          <p:cNvPr id="15" name="TextBox 14"/>
          <p:cNvSpPr txBox="1"/>
          <p:nvPr/>
        </p:nvSpPr>
        <p:spPr>
          <a:xfrm>
            <a:off x="502920" y="841248"/>
            <a:ext cx="8229600" cy="457200"/>
          </a:xfrm>
          <a:prstGeom prst="rect">
            <a:avLst/>
          </a:prstGeom>
          <a:noFill/>
        </p:spPr>
        <p:txBody>
          <a:bodyPr wrap="square">
            <a:spAutoFit/>
          </a:bodyPr>
          <a:lstStyle/>
          <a:p>
            <a:pPr algn="l"/>
            <a:r>
              <a:rPr sz="1300" b="0" i="0">
                <a:solidFill>
                  <a:srgbClr val="AAAACC"/>
                </a:solidFill>
              </a:rPr>
              <a:t>How the pieces connect — Frontend → Backend → AI</a:t>
            </a:r>
          </a:p>
        </p:txBody>
      </p:sp>
      <p:sp>
        <p:nvSpPr>
          <p:cNvPr id="16" name="Rectangle 15"/>
          <p:cNvSpPr/>
          <p:nvPr/>
        </p:nvSpPr>
        <p:spPr>
          <a:xfrm>
            <a:off x="502920" y="1508760"/>
            <a:ext cx="3383280" cy="4160520"/>
          </a:xfrm>
          <a:prstGeom prst="rect">
            <a:avLst/>
          </a:prstGeom>
          <a:solidFill>
            <a:srgbClr val="102248"/>
          </a:solidFill>
          <a:ln w="889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1508760"/>
            <a:ext cx="3383280" cy="9144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1673352"/>
            <a:ext cx="3017520" cy="457200"/>
          </a:xfrm>
          <a:prstGeom prst="rect">
            <a:avLst/>
          </a:prstGeom>
          <a:noFill/>
        </p:spPr>
        <p:txBody>
          <a:bodyPr wrap="square">
            <a:spAutoFit/>
          </a:bodyPr>
          <a:lstStyle/>
          <a:p>
            <a:pPr algn="ctr"/>
            <a:r>
              <a:rPr sz="1700" b="1" i="0">
                <a:solidFill>
                  <a:srgbClr val="D4AF37"/>
                </a:solidFill>
              </a:rPr>
              <a:t>🌐  Frontend</a:t>
            </a:r>
          </a:p>
        </p:txBody>
      </p:sp>
      <p:sp>
        <p:nvSpPr>
          <p:cNvPr id="19" name="Rectangle 18"/>
          <p:cNvSpPr/>
          <p:nvPr/>
        </p:nvSpPr>
        <p:spPr>
          <a:xfrm>
            <a:off x="777240" y="2194560"/>
            <a:ext cx="2834640" cy="32004"/>
          </a:xfrm>
          <a:prstGeom prst="rect">
            <a:avLst/>
          </a:prstGeom>
          <a:solidFill>
            <a:srgbClr val="2A3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04088" y="2432304"/>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377440"/>
            <a:ext cx="2880360" cy="502920"/>
          </a:xfrm>
          <a:prstGeom prst="rect">
            <a:avLst/>
          </a:prstGeom>
          <a:noFill/>
        </p:spPr>
        <p:txBody>
          <a:bodyPr wrap="square">
            <a:spAutoFit/>
          </a:bodyPr>
          <a:lstStyle/>
          <a:p>
            <a:pPr algn="l"/>
            <a:r>
              <a:rPr sz="1250" b="0" i="0">
                <a:solidFill>
                  <a:srgbClr val="FFFFFF"/>
                </a:solidFill>
              </a:rPr>
              <a:t>HTML5 + CSS3 (Vanilla)</a:t>
            </a:r>
          </a:p>
        </p:txBody>
      </p:sp>
      <p:sp>
        <p:nvSpPr>
          <p:cNvPr id="22" name="Oval 21"/>
          <p:cNvSpPr/>
          <p:nvPr/>
        </p:nvSpPr>
        <p:spPr>
          <a:xfrm>
            <a:off x="704088" y="2999232"/>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2944368"/>
            <a:ext cx="2880360" cy="502920"/>
          </a:xfrm>
          <a:prstGeom prst="rect">
            <a:avLst/>
          </a:prstGeom>
          <a:noFill/>
        </p:spPr>
        <p:txBody>
          <a:bodyPr wrap="square">
            <a:spAutoFit/>
          </a:bodyPr>
          <a:lstStyle/>
          <a:p>
            <a:pPr algn="l"/>
            <a:r>
              <a:rPr sz="1250" b="0" i="0">
                <a:solidFill>
                  <a:srgbClr val="FFFFFF"/>
                </a:solidFill>
              </a:rPr>
              <a:t>Vanilla JavaScript (ES6+)</a:t>
            </a:r>
          </a:p>
        </p:txBody>
      </p:sp>
      <p:sp>
        <p:nvSpPr>
          <p:cNvPr id="24" name="Oval 23"/>
          <p:cNvSpPr/>
          <p:nvPr/>
        </p:nvSpPr>
        <p:spPr>
          <a:xfrm>
            <a:off x="704088" y="3566160"/>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511296"/>
            <a:ext cx="2880360" cy="502920"/>
          </a:xfrm>
          <a:prstGeom prst="rect">
            <a:avLst/>
          </a:prstGeom>
          <a:noFill/>
        </p:spPr>
        <p:txBody>
          <a:bodyPr wrap="square">
            <a:spAutoFit/>
          </a:bodyPr>
          <a:lstStyle/>
          <a:p>
            <a:pPr algn="l"/>
            <a:r>
              <a:rPr sz="1250" b="0" i="0">
                <a:solidFill>
                  <a:srgbClr val="FFFFFF"/>
                </a:solidFill>
              </a:rPr>
              <a:t>Glassmorphism + Particle FX</a:t>
            </a:r>
          </a:p>
        </p:txBody>
      </p:sp>
      <p:sp>
        <p:nvSpPr>
          <p:cNvPr id="26" name="Oval 25"/>
          <p:cNvSpPr/>
          <p:nvPr/>
        </p:nvSpPr>
        <p:spPr>
          <a:xfrm>
            <a:off x="704088" y="4133088"/>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078224"/>
            <a:ext cx="2880360" cy="502920"/>
          </a:xfrm>
          <a:prstGeom prst="rect">
            <a:avLst/>
          </a:prstGeom>
          <a:noFill/>
        </p:spPr>
        <p:txBody>
          <a:bodyPr wrap="square">
            <a:spAutoFit/>
          </a:bodyPr>
          <a:lstStyle/>
          <a:p>
            <a:pPr algn="l"/>
            <a:r>
              <a:rPr sz="1250" b="0" i="0">
                <a:solidFill>
                  <a:srgbClr val="FFFFFF"/>
                </a:solidFill>
              </a:rPr>
              <a:t>Google Sign-In SDK</a:t>
            </a:r>
          </a:p>
        </p:txBody>
      </p:sp>
      <p:sp>
        <p:nvSpPr>
          <p:cNvPr id="28" name="Oval 27"/>
          <p:cNvSpPr/>
          <p:nvPr/>
        </p:nvSpPr>
        <p:spPr>
          <a:xfrm>
            <a:off x="704088" y="4700016"/>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645152"/>
            <a:ext cx="2880360" cy="502920"/>
          </a:xfrm>
          <a:prstGeom prst="rect">
            <a:avLst/>
          </a:prstGeom>
          <a:noFill/>
        </p:spPr>
        <p:txBody>
          <a:bodyPr wrap="square">
            <a:spAutoFit/>
          </a:bodyPr>
          <a:lstStyle/>
          <a:p>
            <a:pPr algn="l"/>
            <a:r>
              <a:rPr sz="1250" b="0" i="0">
                <a:solidFill>
                  <a:srgbClr val="FFFFFF"/>
                </a:solidFill>
              </a:rPr>
              <a:t>Responsive 2-column layout</a:t>
            </a:r>
          </a:p>
        </p:txBody>
      </p:sp>
      <p:sp>
        <p:nvSpPr>
          <p:cNvPr id="30" name="TextBox 29"/>
          <p:cNvSpPr txBox="1"/>
          <p:nvPr/>
        </p:nvSpPr>
        <p:spPr>
          <a:xfrm>
            <a:off x="3474720" y="5285232"/>
            <a:ext cx="320040" cy="320040"/>
          </a:xfrm>
          <a:prstGeom prst="rect">
            <a:avLst/>
          </a:prstGeom>
          <a:noFill/>
        </p:spPr>
        <p:txBody>
          <a:bodyPr wrap="square">
            <a:spAutoFit/>
          </a:bodyPr>
          <a:lstStyle/>
          <a:p>
            <a:pPr algn="ctr"/>
            <a:r>
              <a:rPr sz="1800" b="1" i="0">
                <a:solidFill>
                  <a:srgbClr val="2A3C66"/>
                </a:solidFill>
              </a:rPr>
              <a:t>1</a:t>
            </a:r>
          </a:p>
        </p:txBody>
      </p:sp>
      <p:sp>
        <p:nvSpPr>
          <p:cNvPr id="31" name="Rectangle 30"/>
          <p:cNvSpPr/>
          <p:nvPr/>
        </p:nvSpPr>
        <p:spPr>
          <a:xfrm>
            <a:off x="4306824" y="1508760"/>
            <a:ext cx="3383280" cy="4160520"/>
          </a:xfrm>
          <a:prstGeom prst="rect">
            <a:avLst/>
          </a:prstGeom>
          <a:solidFill>
            <a:srgbClr val="0D1E44"/>
          </a:solidFill>
          <a:ln w="889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06824" y="1508760"/>
            <a:ext cx="3383280" cy="9144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9704" y="1673352"/>
            <a:ext cx="3017520" cy="457200"/>
          </a:xfrm>
          <a:prstGeom prst="rect">
            <a:avLst/>
          </a:prstGeom>
          <a:noFill/>
        </p:spPr>
        <p:txBody>
          <a:bodyPr wrap="square">
            <a:spAutoFit/>
          </a:bodyPr>
          <a:lstStyle/>
          <a:p>
            <a:pPr algn="ctr"/>
            <a:r>
              <a:rPr sz="1700" b="1" i="0">
                <a:solidFill>
                  <a:srgbClr val="D4AF37"/>
                </a:solidFill>
              </a:rPr>
              <a:t>⚙️  Backend</a:t>
            </a:r>
          </a:p>
        </p:txBody>
      </p:sp>
      <p:sp>
        <p:nvSpPr>
          <p:cNvPr id="34" name="Rectangle 33"/>
          <p:cNvSpPr/>
          <p:nvPr/>
        </p:nvSpPr>
        <p:spPr>
          <a:xfrm>
            <a:off x="4581144" y="2194560"/>
            <a:ext cx="2834640" cy="32004"/>
          </a:xfrm>
          <a:prstGeom prst="rect">
            <a:avLst/>
          </a:prstGeom>
          <a:solidFill>
            <a:srgbClr val="2A3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07992" y="2432304"/>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18304" y="2377440"/>
            <a:ext cx="2880360" cy="502920"/>
          </a:xfrm>
          <a:prstGeom prst="rect">
            <a:avLst/>
          </a:prstGeom>
          <a:noFill/>
        </p:spPr>
        <p:txBody>
          <a:bodyPr wrap="square">
            <a:spAutoFit/>
          </a:bodyPr>
          <a:lstStyle/>
          <a:p>
            <a:pPr algn="l"/>
            <a:r>
              <a:rPr sz="1250" b="0" i="0">
                <a:solidFill>
                  <a:srgbClr val="FFFFFF"/>
                </a:solidFill>
              </a:rPr>
              <a:t>FastAPI (Python 3.11)</a:t>
            </a:r>
          </a:p>
        </p:txBody>
      </p:sp>
      <p:sp>
        <p:nvSpPr>
          <p:cNvPr id="37" name="Oval 36"/>
          <p:cNvSpPr/>
          <p:nvPr/>
        </p:nvSpPr>
        <p:spPr>
          <a:xfrm>
            <a:off x="4507992" y="2999232"/>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18304" y="2944368"/>
            <a:ext cx="2880360" cy="502920"/>
          </a:xfrm>
          <a:prstGeom prst="rect">
            <a:avLst/>
          </a:prstGeom>
          <a:noFill/>
        </p:spPr>
        <p:txBody>
          <a:bodyPr wrap="square">
            <a:spAutoFit/>
          </a:bodyPr>
          <a:lstStyle/>
          <a:p>
            <a:pPr algn="l"/>
            <a:r>
              <a:rPr sz="1250" b="0" i="0">
                <a:solidFill>
                  <a:srgbClr val="FFFFFF"/>
                </a:solidFill>
              </a:rPr>
              <a:t>SQLAlchemy ORM</a:t>
            </a:r>
          </a:p>
        </p:txBody>
      </p:sp>
      <p:sp>
        <p:nvSpPr>
          <p:cNvPr id="39" name="Oval 38"/>
          <p:cNvSpPr/>
          <p:nvPr/>
        </p:nvSpPr>
        <p:spPr>
          <a:xfrm>
            <a:off x="4507992" y="3566160"/>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18304" y="3511296"/>
            <a:ext cx="2880360" cy="502920"/>
          </a:xfrm>
          <a:prstGeom prst="rect">
            <a:avLst/>
          </a:prstGeom>
          <a:noFill/>
        </p:spPr>
        <p:txBody>
          <a:bodyPr wrap="square">
            <a:spAutoFit/>
          </a:bodyPr>
          <a:lstStyle/>
          <a:p>
            <a:pPr algn="l"/>
            <a:r>
              <a:rPr sz="1250" b="0" i="0">
                <a:solidFill>
                  <a:srgbClr val="FFFFFF"/>
                </a:solidFill>
              </a:rPr>
              <a:t>SQLite database</a:t>
            </a:r>
          </a:p>
        </p:txBody>
      </p:sp>
      <p:sp>
        <p:nvSpPr>
          <p:cNvPr id="41" name="Oval 40"/>
          <p:cNvSpPr/>
          <p:nvPr/>
        </p:nvSpPr>
        <p:spPr>
          <a:xfrm>
            <a:off x="4507992" y="4133088"/>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18304" y="4078224"/>
            <a:ext cx="2880360" cy="502920"/>
          </a:xfrm>
          <a:prstGeom prst="rect">
            <a:avLst/>
          </a:prstGeom>
          <a:noFill/>
        </p:spPr>
        <p:txBody>
          <a:bodyPr wrap="square">
            <a:spAutoFit/>
          </a:bodyPr>
          <a:lstStyle/>
          <a:p>
            <a:pPr algn="l"/>
            <a:r>
              <a:rPr sz="1250" b="0" i="0">
                <a:solidFill>
                  <a:srgbClr val="FFFFFF"/>
                </a:solidFill>
              </a:rPr>
              <a:t>bcrypt password hashing</a:t>
            </a:r>
          </a:p>
        </p:txBody>
      </p:sp>
      <p:sp>
        <p:nvSpPr>
          <p:cNvPr id="43" name="Oval 42"/>
          <p:cNvSpPr/>
          <p:nvPr/>
        </p:nvSpPr>
        <p:spPr>
          <a:xfrm>
            <a:off x="4507992" y="4700016"/>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18304" y="4645152"/>
            <a:ext cx="2880360" cy="502920"/>
          </a:xfrm>
          <a:prstGeom prst="rect">
            <a:avLst/>
          </a:prstGeom>
          <a:noFill/>
        </p:spPr>
        <p:txBody>
          <a:bodyPr wrap="square">
            <a:spAutoFit/>
          </a:bodyPr>
          <a:lstStyle/>
          <a:p>
            <a:pPr algn="l"/>
            <a:r>
              <a:rPr sz="1250" b="0" i="0">
                <a:solidFill>
                  <a:srgbClr val="FFFFFF"/>
                </a:solidFill>
              </a:rPr>
              <a:t>JWT access tokens</a:t>
            </a:r>
          </a:p>
        </p:txBody>
      </p:sp>
      <p:sp>
        <p:nvSpPr>
          <p:cNvPr id="45" name="TextBox 44"/>
          <p:cNvSpPr txBox="1"/>
          <p:nvPr/>
        </p:nvSpPr>
        <p:spPr>
          <a:xfrm>
            <a:off x="7278624" y="5285232"/>
            <a:ext cx="320040" cy="320040"/>
          </a:xfrm>
          <a:prstGeom prst="rect">
            <a:avLst/>
          </a:prstGeom>
          <a:noFill/>
        </p:spPr>
        <p:txBody>
          <a:bodyPr wrap="square">
            <a:spAutoFit/>
          </a:bodyPr>
          <a:lstStyle/>
          <a:p>
            <a:pPr algn="ctr"/>
            <a:r>
              <a:rPr sz="1800" b="1" i="0">
                <a:solidFill>
                  <a:srgbClr val="2A3C66"/>
                </a:solidFill>
              </a:rPr>
              <a:t>2</a:t>
            </a:r>
          </a:p>
        </p:txBody>
      </p:sp>
      <p:sp>
        <p:nvSpPr>
          <p:cNvPr id="46" name="Rectangle 45"/>
          <p:cNvSpPr/>
          <p:nvPr/>
        </p:nvSpPr>
        <p:spPr>
          <a:xfrm>
            <a:off x="8110728" y="1508760"/>
            <a:ext cx="3383280" cy="4160520"/>
          </a:xfrm>
          <a:prstGeom prst="rect">
            <a:avLst/>
          </a:prstGeom>
          <a:solidFill>
            <a:srgbClr val="0B1A3C"/>
          </a:solidFill>
          <a:ln w="889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10728" y="1508760"/>
            <a:ext cx="3383280" cy="9144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93608" y="1673352"/>
            <a:ext cx="3017520" cy="457200"/>
          </a:xfrm>
          <a:prstGeom prst="rect">
            <a:avLst/>
          </a:prstGeom>
          <a:noFill/>
        </p:spPr>
        <p:txBody>
          <a:bodyPr wrap="square">
            <a:spAutoFit/>
          </a:bodyPr>
          <a:lstStyle/>
          <a:p>
            <a:pPr algn="ctr"/>
            <a:r>
              <a:rPr sz="1700" b="1" i="0">
                <a:solidFill>
                  <a:srgbClr val="D4AF37"/>
                </a:solidFill>
              </a:rPr>
              <a:t>🤖  AI Engine</a:t>
            </a:r>
          </a:p>
        </p:txBody>
      </p:sp>
      <p:sp>
        <p:nvSpPr>
          <p:cNvPr id="49" name="Rectangle 48"/>
          <p:cNvSpPr/>
          <p:nvPr/>
        </p:nvSpPr>
        <p:spPr>
          <a:xfrm>
            <a:off x="8385048" y="2194560"/>
            <a:ext cx="2834640" cy="32004"/>
          </a:xfrm>
          <a:prstGeom prst="rect">
            <a:avLst/>
          </a:prstGeom>
          <a:solidFill>
            <a:srgbClr val="2A3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311896" y="2432304"/>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22208" y="2377440"/>
            <a:ext cx="2880360" cy="502920"/>
          </a:xfrm>
          <a:prstGeom prst="rect">
            <a:avLst/>
          </a:prstGeom>
          <a:noFill/>
        </p:spPr>
        <p:txBody>
          <a:bodyPr wrap="square">
            <a:spAutoFit/>
          </a:bodyPr>
          <a:lstStyle/>
          <a:p>
            <a:pPr algn="l"/>
            <a:r>
              <a:rPr sz="1250" b="0" i="0">
                <a:solidFill>
                  <a:srgbClr val="FFFFFF"/>
                </a:solidFill>
              </a:rPr>
              <a:t>Google Gemini 2.0 Flash</a:t>
            </a:r>
          </a:p>
        </p:txBody>
      </p:sp>
      <p:sp>
        <p:nvSpPr>
          <p:cNvPr id="52" name="Oval 51"/>
          <p:cNvSpPr/>
          <p:nvPr/>
        </p:nvSpPr>
        <p:spPr>
          <a:xfrm>
            <a:off x="8311896" y="2999232"/>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22208" y="2944368"/>
            <a:ext cx="2880360" cy="502920"/>
          </a:xfrm>
          <a:prstGeom prst="rect">
            <a:avLst/>
          </a:prstGeom>
          <a:noFill/>
        </p:spPr>
        <p:txBody>
          <a:bodyPr wrap="square">
            <a:spAutoFit/>
          </a:bodyPr>
          <a:lstStyle/>
          <a:p>
            <a:pPr algn="l"/>
            <a:r>
              <a:rPr sz="1250" b="0" i="0">
                <a:solidFill>
                  <a:srgbClr val="FFFFFF"/>
                </a:solidFill>
              </a:rPr>
              <a:t>OpenRouter gateway</a:t>
            </a:r>
          </a:p>
        </p:txBody>
      </p:sp>
      <p:sp>
        <p:nvSpPr>
          <p:cNvPr id="54" name="Oval 53"/>
          <p:cNvSpPr/>
          <p:nvPr/>
        </p:nvSpPr>
        <p:spPr>
          <a:xfrm>
            <a:off x="8311896" y="3566160"/>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522208" y="3511296"/>
            <a:ext cx="2880360" cy="502920"/>
          </a:xfrm>
          <a:prstGeom prst="rect">
            <a:avLst/>
          </a:prstGeom>
          <a:noFill/>
        </p:spPr>
        <p:txBody>
          <a:bodyPr wrap="square">
            <a:spAutoFit/>
          </a:bodyPr>
          <a:lstStyle/>
          <a:p>
            <a:pPr algn="l"/>
            <a:r>
              <a:rPr sz="1250" b="0" i="0">
                <a:solidFill>
                  <a:srgbClr val="FFFFFF"/>
                </a:solidFill>
              </a:rPr>
              <a:t>Custom system prompts</a:t>
            </a:r>
          </a:p>
        </p:txBody>
      </p:sp>
      <p:sp>
        <p:nvSpPr>
          <p:cNvPr id="56" name="Oval 55"/>
          <p:cNvSpPr/>
          <p:nvPr/>
        </p:nvSpPr>
        <p:spPr>
          <a:xfrm>
            <a:off x="8311896" y="4133088"/>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522208" y="4078224"/>
            <a:ext cx="2880360" cy="502920"/>
          </a:xfrm>
          <a:prstGeom prst="rect">
            <a:avLst/>
          </a:prstGeom>
          <a:noFill/>
        </p:spPr>
        <p:txBody>
          <a:bodyPr wrap="square">
            <a:spAutoFit/>
          </a:bodyPr>
          <a:lstStyle/>
          <a:p>
            <a:pPr algn="l"/>
            <a:r>
              <a:rPr sz="1250" b="0" i="0">
                <a:solidFill>
                  <a:srgbClr val="FFFFFF"/>
                </a:solidFill>
              </a:rPr>
              <a:t>Exponential retry logic</a:t>
            </a:r>
          </a:p>
        </p:txBody>
      </p:sp>
      <p:sp>
        <p:nvSpPr>
          <p:cNvPr id="58" name="Oval 57"/>
          <p:cNvSpPr/>
          <p:nvPr/>
        </p:nvSpPr>
        <p:spPr>
          <a:xfrm>
            <a:off x="8311896" y="4700016"/>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22208" y="4645152"/>
            <a:ext cx="2880360" cy="502920"/>
          </a:xfrm>
          <a:prstGeom prst="rect">
            <a:avLst/>
          </a:prstGeom>
          <a:noFill/>
        </p:spPr>
        <p:txBody>
          <a:bodyPr wrap="square">
            <a:spAutoFit/>
          </a:bodyPr>
          <a:lstStyle/>
          <a:p>
            <a:pPr algn="l"/>
            <a:r>
              <a:rPr sz="1250" b="0" i="0">
                <a:solidFill>
                  <a:srgbClr val="FFFFFF"/>
                </a:solidFill>
              </a:rPr>
              <a:t>JSON + Chat endpoints</a:t>
            </a:r>
          </a:p>
        </p:txBody>
      </p:sp>
      <p:sp>
        <p:nvSpPr>
          <p:cNvPr id="60" name="TextBox 59"/>
          <p:cNvSpPr txBox="1"/>
          <p:nvPr/>
        </p:nvSpPr>
        <p:spPr>
          <a:xfrm>
            <a:off x="11082528" y="5285232"/>
            <a:ext cx="320040" cy="320040"/>
          </a:xfrm>
          <a:prstGeom prst="rect">
            <a:avLst/>
          </a:prstGeom>
          <a:noFill/>
        </p:spPr>
        <p:txBody>
          <a:bodyPr wrap="square">
            <a:spAutoFit/>
          </a:bodyPr>
          <a:lstStyle/>
          <a:p>
            <a:pPr algn="ctr"/>
            <a:r>
              <a:rPr sz="1800" b="1" i="0">
                <a:solidFill>
                  <a:srgbClr val="2A3C66"/>
                </a:solidFill>
              </a:rPr>
              <a:t>3</a:t>
            </a:r>
          </a:p>
        </p:txBody>
      </p:sp>
      <p:sp>
        <p:nvSpPr>
          <p:cNvPr id="61" name="TextBox 60"/>
          <p:cNvSpPr txBox="1"/>
          <p:nvPr/>
        </p:nvSpPr>
        <p:spPr>
          <a:xfrm>
            <a:off x="3977639" y="3291840"/>
            <a:ext cx="365760" cy="457200"/>
          </a:xfrm>
          <a:prstGeom prst="rect">
            <a:avLst/>
          </a:prstGeom>
          <a:noFill/>
        </p:spPr>
        <p:txBody>
          <a:bodyPr wrap="square">
            <a:spAutoFit/>
          </a:bodyPr>
          <a:lstStyle/>
          <a:p>
            <a:pPr algn="ctr"/>
            <a:r>
              <a:rPr sz="3000" b="0" i="0">
                <a:solidFill>
                  <a:srgbClr val="D4AF37"/>
                </a:solidFill>
              </a:rPr>
              <a:t>→</a:t>
            </a:r>
          </a:p>
        </p:txBody>
      </p:sp>
      <p:sp>
        <p:nvSpPr>
          <p:cNvPr id="62" name="TextBox 61"/>
          <p:cNvSpPr txBox="1"/>
          <p:nvPr/>
        </p:nvSpPr>
        <p:spPr>
          <a:xfrm>
            <a:off x="7964424" y="3291840"/>
            <a:ext cx="365760" cy="457200"/>
          </a:xfrm>
          <a:prstGeom prst="rect">
            <a:avLst/>
          </a:prstGeom>
          <a:noFill/>
        </p:spPr>
        <p:txBody>
          <a:bodyPr wrap="square">
            <a:spAutoFit/>
          </a:bodyPr>
          <a:lstStyle/>
          <a:p>
            <a:pPr algn="ctr"/>
            <a:r>
              <a:rPr sz="3000" b="0" i="0">
                <a:solidFill>
                  <a:srgbClr val="D4AF37"/>
                </a:solidFill>
              </a:rPr>
              <a:t>→</a:t>
            </a:r>
          </a:p>
        </p:txBody>
      </p:sp>
      <p:sp>
        <p:nvSpPr>
          <p:cNvPr id="63" name="Rectangle 62"/>
          <p:cNvSpPr/>
          <p:nvPr/>
        </p:nvSpPr>
        <p:spPr>
          <a:xfrm>
            <a:off x="365760" y="5833872"/>
            <a:ext cx="1691640" cy="338328"/>
          </a:xfrm>
          <a:prstGeom prst="rect">
            <a:avLst/>
          </a:prstGeom>
          <a:solidFill>
            <a:srgbClr val="182E55"/>
          </a:solidFill>
          <a:ln w="101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5879592"/>
            <a:ext cx="1508760" cy="246888"/>
          </a:xfrm>
          <a:prstGeom prst="rect">
            <a:avLst/>
          </a:prstGeom>
          <a:noFill/>
        </p:spPr>
        <p:txBody>
          <a:bodyPr wrap="none">
            <a:spAutoFit/>
          </a:bodyPr>
          <a:lstStyle/>
          <a:p>
            <a:pPr algn="ctr"/>
            <a:r>
              <a:rPr sz="1050" b="1">
                <a:solidFill>
                  <a:srgbClr val="F0CC60"/>
                </a:solidFill>
              </a:rPr>
              <a:t>Python 3.11</a:t>
            </a:r>
          </a:p>
        </p:txBody>
      </p:sp>
      <p:sp>
        <p:nvSpPr>
          <p:cNvPr id="65" name="Rectangle 64"/>
          <p:cNvSpPr/>
          <p:nvPr/>
        </p:nvSpPr>
        <p:spPr>
          <a:xfrm>
            <a:off x="2148840" y="5833872"/>
            <a:ext cx="1691640" cy="338328"/>
          </a:xfrm>
          <a:prstGeom prst="rect">
            <a:avLst/>
          </a:prstGeom>
          <a:solidFill>
            <a:srgbClr val="182E55"/>
          </a:solidFill>
          <a:ln w="101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240280" y="5879592"/>
            <a:ext cx="1508760" cy="246888"/>
          </a:xfrm>
          <a:prstGeom prst="rect">
            <a:avLst/>
          </a:prstGeom>
          <a:noFill/>
        </p:spPr>
        <p:txBody>
          <a:bodyPr wrap="none">
            <a:spAutoFit/>
          </a:bodyPr>
          <a:lstStyle/>
          <a:p>
            <a:pPr algn="ctr"/>
            <a:r>
              <a:rPr sz="1050" b="1">
                <a:solidFill>
                  <a:srgbClr val="F0CC60"/>
                </a:solidFill>
              </a:rPr>
              <a:t>FastAPI</a:t>
            </a:r>
          </a:p>
        </p:txBody>
      </p:sp>
      <p:sp>
        <p:nvSpPr>
          <p:cNvPr id="67" name="Rectangle 66"/>
          <p:cNvSpPr/>
          <p:nvPr/>
        </p:nvSpPr>
        <p:spPr>
          <a:xfrm>
            <a:off x="3931920" y="5833872"/>
            <a:ext cx="1691640" cy="338328"/>
          </a:xfrm>
          <a:prstGeom prst="rect">
            <a:avLst/>
          </a:prstGeom>
          <a:solidFill>
            <a:srgbClr val="182E55"/>
          </a:solidFill>
          <a:ln w="101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23360" y="5879592"/>
            <a:ext cx="1508760" cy="246888"/>
          </a:xfrm>
          <a:prstGeom prst="rect">
            <a:avLst/>
          </a:prstGeom>
          <a:noFill/>
        </p:spPr>
        <p:txBody>
          <a:bodyPr wrap="none">
            <a:spAutoFit/>
          </a:bodyPr>
          <a:lstStyle/>
          <a:p>
            <a:pPr algn="ctr"/>
            <a:r>
              <a:rPr sz="1050" b="1">
                <a:solidFill>
                  <a:srgbClr val="F0CC60"/>
                </a:solidFill>
              </a:rPr>
              <a:t>SQLite</a:t>
            </a:r>
          </a:p>
        </p:txBody>
      </p:sp>
      <p:sp>
        <p:nvSpPr>
          <p:cNvPr id="69" name="Rectangle 68"/>
          <p:cNvSpPr/>
          <p:nvPr/>
        </p:nvSpPr>
        <p:spPr>
          <a:xfrm>
            <a:off x="5715000" y="5833872"/>
            <a:ext cx="1691640" cy="338328"/>
          </a:xfrm>
          <a:prstGeom prst="rect">
            <a:avLst/>
          </a:prstGeom>
          <a:solidFill>
            <a:srgbClr val="182E55"/>
          </a:solidFill>
          <a:ln w="101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806440" y="5879592"/>
            <a:ext cx="1508760" cy="246888"/>
          </a:xfrm>
          <a:prstGeom prst="rect">
            <a:avLst/>
          </a:prstGeom>
          <a:noFill/>
        </p:spPr>
        <p:txBody>
          <a:bodyPr wrap="none">
            <a:spAutoFit/>
          </a:bodyPr>
          <a:lstStyle/>
          <a:p>
            <a:pPr algn="ctr"/>
            <a:r>
              <a:rPr sz="1050" b="1">
                <a:solidFill>
                  <a:srgbClr val="F0CC60"/>
                </a:solidFill>
              </a:rPr>
              <a:t>OpenRouter</a:t>
            </a:r>
          </a:p>
        </p:txBody>
      </p:sp>
      <p:sp>
        <p:nvSpPr>
          <p:cNvPr id="71" name="Rectangle 70"/>
          <p:cNvSpPr/>
          <p:nvPr/>
        </p:nvSpPr>
        <p:spPr>
          <a:xfrm>
            <a:off x="7498080" y="5833872"/>
            <a:ext cx="1691640" cy="338328"/>
          </a:xfrm>
          <a:prstGeom prst="rect">
            <a:avLst/>
          </a:prstGeom>
          <a:solidFill>
            <a:srgbClr val="182E55"/>
          </a:solidFill>
          <a:ln w="101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589520" y="5879592"/>
            <a:ext cx="1508760" cy="246888"/>
          </a:xfrm>
          <a:prstGeom prst="rect">
            <a:avLst/>
          </a:prstGeom>
          <a:noFill/>
        </p:spPr>
        <p:txBody>
          <a:bodyPr wrap="none">
            <a:spAutoFit/>
          </a:bodyPr>
          <a:lstStyle/>
          <a:p>
            <a:pPr algn="ctr"/>
            <a:r>
              <a:rPr sz="1050" b="1">
                <a:solidFill>
                  <a:srgbClr val="F0CC60"/>
                </a:solidFill>
              </a:rPr>
              <a:t>Gemini 2.0 Flash</a:t>
            </a:r>
          </a:p>
        </p:txBody>
      </p:sp>
      <p:sp>
        <p:nvSpPr>
          <p:cNvPr id="73" name="Rectangle 72"/>
          <p:cNvSpPr/>
          <p:nvPr/>
        </p:nvSpPr>
        <p:spPr>
          <a:xfrm>
            <a:off x="9281160" y="5833872"/>
            <a:ext cx="1691640" cy="338328"/>
          </a:xfrm>
          <a:prstGeom prst="rect">
            <a:avLst/>
          </a:prstGeom>
          <a:solidFill>
            <a:srgbClr val="182E55"/>
          </a:solidFill>
          <a:ln w="101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372600" y="5879592"/>
            <a:ext cx="1508760" cy="246888"/>
          </a:xfrm>
          <a:prstGeom prst="rect">
            <a:avLst/>
          </a:prstGeom>
          <a:noFill/>
        </p:spPr>
        <p:txBody>
          <a:bodyPr wrap="none">
            <a:spAutoFit/>
          </a:bodyPr>
          <a:lstStyle/>
          <a:p>
            <a:pPr algn="ctr"/>
            <a:r>
              <a:rPr sz="1050" b="1">
                <a:solidFill>
                  <a:srgbClr val="F0CC60"/>
                </a:solidFill>
              </a:rPr>
              <a:t>bcrypt</a:t>
            </a:r>
          </a:p>
        </p:txBody>
      </p:sp>
      <p:sp>
        <p:nvSpPr>
          <p:cNvPr id="75" name="Rectangle 74"/>
          <p:cNvSpPr/>
          <p:nvPr/>
        </p:nvSpPr>
        <p:spPr>
          <a:xfrm>
            <a:off x="11064240" y="5833872"/>
            <a:ext cx="1691640" cy="338328"/>
          </a:xfrm>
          <a:prstGeom prst="rect">
            <a:avLst/>
          </a:prstGeom>
          <a:solidFill>
            <a:srgbClr val="182E55"/>
          </a:solidFill>
          <a:ln w="101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1155680" y="5879592"/>
            <a:ext cx="1508760" cy="246888"/>
          </a:xfrm>
          <a:prstGeom prst="rect">
            <a:avLst/>
          </a:prstGeom>
          <a:noFill/>
        </p:spPr>
        <p:txBody>
          <a:bodyPr wrap="none">
            <a:spAutoFit/>
          </a:bodyPr>
          <a:lstStyle/>
          <a:p>
            <a:pPr algn="ctr"/>
            <a:r>
              <a:rPr sz="1050" b="1">
                <a:solidFill>
                  <a:srgbClr val="F0CC60"/>
                </a:solidFill>
              </a:rPr>
              <a:t>JWT</a:t>
            </a:r>
          </a:p>
        </p:txBody>
      </p:sp>
      <p:sp>
        <p:nvSpPr>
          <p:cNvPr id="77" name="Rectangle 76"/>
          <p:cNvSpPr/>
          <p:nvPr/>
        </p:nvSpPr>
        <p:spPr>
          <a:xfrm>
            <a:off x="12847320" y="5833872"/>
            <a:ext cx="1691640" cy="338328"/>
          </a:xfrm>
          <a:prstGeom prst="rect">
            <a:avLst/>
          </a:prstGeom>
          <a:solidFill>
            <a:srgbClr val="182E55"/>
          </a:solidFill>
          <a:ln w="101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2938760" y="5879592"/>
            <a:ext cx="1508760" cy="246888"/>
          </a:xfrm>
          <a:prstGeom prst="rect">
            <a:avLst/>
          </a:prstGeom>
          <a:noFill/>
        </p:spPr>
        <p:txBody>
          <a:bodyPr wrap="none">
            <a:spAutoFit/>
          </a:bodyPr>
          <a:lstStyle/>
          <a:p>
            <a:pPr algn="ctr"/>
            <a:r>
              <a:rPr sz="1050" b="1">
                <a:solidFill>
                  <a:srgbClr val="F0CC60"/>
                </a:solidFill>
              </a:rPr>
              <a:t>HTML5 / CSS3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028"/>
        </a:solidFill>
        <a:effectLst/>
      </p:bgPr>
    </p:bg>
    <p:spTree>
      <p:nvGrpSpPr>
        <p:cNvPr id="1" name=""/>
        <p:cNvGrpSpPr/>
        <p:nvPr/>
      </p:nvGrpSpPr>
      <p:grpSpPr/>
      <p:sp>
        <p:nvSpPr>
          <p:cNvPr id="2" name="Oval 1"/>
          <p:cNvSpPr/>
          <p:nvPr/>
        </p:nvSpPr>
        <p:spPr>
          <a:xfrm>
            <a:off x="9389839" y="2177500"/>
            <a:ext cx="58566" cy="5856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59908" y="827932"/>
            <a:ext cx="80123" cy="8012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610630" y="4004460"/>
            <a:ext cx="49877" cy="49877"/>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48882" y="3295807"/>
            <a:ext cx="114402" cy="11440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9527" y="6218131"/>
            <a:ext cx="52365" cy="52365"/>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53903" y="3338661"/>
            <a:ext cx="112991" cy="112991"/>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289852" y="2149183"/>
            <a:ext cx="44547" cy="44547"/>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54846" y="3509264"/>
            <a:ext cx="55319" cy="55319"/>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391401" y="609578"/>
            <a:ext cx="54876" cy="5487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36086" y="2892692"/>
            <a:ext cx="100973" cy="10097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12188952" cy="1371600"/>
          </a:xfrm>
          <a:prstGeom prst="rect">
            <a:avLst/>
          </a:prstGeom>
          <a:solidFill>
            <a:srgbClr val="08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371600"/>
            <a:ext cx="12188952" cy="3200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64592"/>
            <a:ext cx="8229600" cy="731520"/>
          </a:xfrm>
          <a:prstGeom prst="rect">
            <a:avLst/>
          </a:prstGeom>
          <a:noFill/>
        </p:spPr>
        <p:txBody>
          <a:bodyPr wrap="square">
            <a:spAutoFit/>
          </a:bodyPr>
          <a:lstStyle/>
          <a:p>
            <a:pPr algn="l"/>
            <a:r>
              <a:rPr sz="3200" b="1" i="0">
                <a:solidFill>
                  <a:srgbClr val="D4AF37"/>
                </a:solidFill>
              </a:rPr>
              <a:t>Live Chat Interface</a:t>
            </a:r>
          </a:p>
        </p:txBody>
      </p:sp>
      <p:sp>
        <p:nvSpPr>
          <p:cNvPr id="15" name="TextBox 14"/>
          <p:cNvSpPr txBox="1"/>
          <p:nvPr/>
        </p:nvSpPr>
        <p:spPr>
          <a:xfrm>
            <a:off x="502920" y="841248"/>
            <a:ext cx="8229600" cy="457200"/>
          </a:xfrm>
          <a:prstGeom prst="rect">
            <a:avLst/>
          </a:prstGeom>
          <a:noFill/>
        </p:spPr>
        <p:txBody>
          <a:bodyPr wrap="square">
            <a:spAutoFit/>
          </a:bodyPr>
          <a:lstStyle/>
          <a:p>
            <a:pPr algn="l"/>
            <a:r>
              <a:rPr sz="1300" b="0" i="0">
                <a:solidFill>
                  <a:srgbClr val="AAAACC"/>
                </a:solidFill>
              </a:rPr>
              <a:t>MixBot responding in real time — admin logged in as 'Admin'</a:t>
            </a:r>
          </a:p>
        </p:txBody>
      </p:sp>
      <p:pic>
        <p:nvPicPr>
          <p:cNvPr id="16" name="Picture 15" descr="ss_03_chat_interface_1777229507308.png"/>
          <p:cNvPicPr>
            <a:picLocks noChangeAspect="1"/>
          </p:cNvPicPr>
          <p:nvPr/>
        </p:nvPicPr>
        <p:blipFill>
          <a:blip r:embed="rId2"/>
          <a:stretch>
            <a:fillRect/>
          </a:stretch>
        </p:blipFill>
        <p:spPr>
          <a:xfrm>
            <a:off x="365760" y="1508760"/>
            <a:ext cx="5623560" cy="4160520"/>
          </a:xfrm>
          <a:prstGeom prst="rect">
            <a:avLst/>
          </a:prstGeom>
        </p:spPr>
      </p:pic>
      <p:sp>
        <p:nvSpPr>
          <p:cNvPr id="17" name="Rectangle 16"/>
          <p:cNvSpPr/>
          <p:nvPr/>
        </p:nvSpPr>
        <p:spPr>
          <a:xfrm>
            <a:off x="365760" y="1508760"/>
            <a:ext cx="5623560" cy="4160520"/>
          </a:xfrm>
          <a:prstGeom prst="rect">
            <a:avLst/>
          </a:prstGeom>
          <a:no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s_04_chat_response_1777229529607.png"/>
          <p:cNvPicPr>
            <a:picLocks noChangeAspect="1"/>
          </p:cNvPicPr>
          <p:nvPr/>
        </p:nvPicPr>
        <p:blipFill>
          <a:blip r:embed="rId3"/>
          <a:stretch>
            <a:fillRect/>
          </a:stretch>
        </p:blipFill>
        <p:spPr>
          <a:xfrm>
            <a:off x="6172200" y="1508760"/>
            <a:ext cx="5623560" cy="4160520"/>
          </a:xfrm>
          <a:prstGeom prst="rect">
            <a:avLst/>
          </a:prstGeom>
        </p:spPr>
      </p:pic>
      <p:sp>
        <p:nvSpPr>
          <p:cNvPr id="19" name="Rectangle 18"/>
          <p:cNvSpPr/>
          <p:nvPr/>
        </p:nvSpPr>
        <p:spPr>
          <a:xfrm>
            <a:off x="6172200" y="1508760"/>
            <a:ext cx="5623560" cy="4160520"/>
          </a:xfrm>
          <a:prstGeom prst="rect">
            <a:avLst/>
          </a:prstGeom>
          <a:no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5742432"/>
            <a:ext cx="5623560" cy="384048"/>
          </a:xfrm>
          <a:prstGeom prst="rect">
            <a:avLst/>
          </a:prstGeom>
          <a:solidFill>
            <a:srgbClr val="091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79008"/>
            <a:ext cx="5394960" cy="310896"/>
          </a:xfrm>
          <a:prstGeom prst="rect">
            <a:avLst/>
          </a:prstGeom>
          <a:noFill/>
        </p:spPr>
        <p:txBody>
          <a:bodyPr wrap="square">
            <a:spAutoFit/>
          </a:bodyPr>
          <a:lstStyle/>
          <a:p>
            <a:pPr algn="l"/>
            <a:r>
              <a:rPr sz="1000" b="0" i="1">
                <a:solidFill>
                  <a:srgbClr val="666688"/>
                </a:solidFill>
              </a:rPr>
              <a:t>Chat UI after login — sidebar shows session history</a:t>
            </a:r>
          </a:p>
        </p:txBody>
      </p:sp>
      <p:sp>
        <p:nvSpPr>
          <p:cNvPr id="22" name="Rectangle 21"/>
          <p:cNvSpPr/>
          <p:nvPr/>
        </p:nvSpPr>
        <p:spPr>
          <a:xfrm>
            <a:off x="6172200" y="5742432"/>
            <a:ext cx="5623560" cy="384048"/>
          </a:xfrm>
          <a:prstGeom prst="rect">
            <a:avLst/>
          </a:prstGeom>
          <a:solidFill>
            <a:srgbClr val="091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5779008"/>
            <a:ext cx="5394960" cy="310896"/>
          </a:xfrm>
          <a:prstGeom prst="rect">
            <a:avLst/>
          </a:prstGeom>
          <a:noFill/>
        </p:spPr>
        <p:txBody>
          <a:bodyPr wrap="square">
            <a:spAutoFit/>
          </a:bodyPr>
          <a:lstStyle/>
          <a:p>
            <a:pPr algn="l"/>
            <a:r>
              <a:rPr sz="1000" b="0" i="1">
                <a:solidFill>
                  <a:srgbClr val="666688"/>
                </a:solidFill>
              </a:rPr>
              <a:t>AI response to "Make me a classic Negroni cocktail" — real Gemini output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028"/>
        </a:solidFill>
        <a:effectLst/>
      </p:bgPr>
    </p:bg>
    <p:spTree>
      <p:nvGrpSpPr>
        <p:cNvPr id="1" name=""/>
        <p:cNvGrpSpPr/>
        <p:nvPr/>
      </p:nvGrpSpPr>
      <p:grpSpPr/>
      <p:sp>
        <p:nvSpPr>
          <p:cNvPr id="2" name="Oval 1"/>
          <p:cNvSpPr/>
          <p:nvPr/>
        </p:nvSpPr>
        <p:spPr>
          <a:xfrm>
            <a:off x="4889801" y="3560494"/>
            <a:ext cx="115400" cy="11540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218322" y="1532641"/>
            <a:ext cx="39236" cy="3923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26862" y="147803"/>
            <a:ext cx="50903" cy="50903"/>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101595" y="6424986"/>
            <a:ext cx="99990" cy="9999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42899" y="2684069"/>
            <a:ext cx="99789" cy="99789"/>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940250" y="562240"/>
            <a:ext cx="113524" cy="11352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294142" y="808392"/>
            <a:ext cx="42982" cy="4298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73125" y="6229315"/>
            <a:ext cx="46425" cy="46425"/>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87431" y="6297447"/>
            <a:ext cx="39776" cy="3977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28759" y="3146420"/>
            <a:ext cx="120416" cy="12041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12188952" cy="1371600"/>
          </a:xfrm>
          <a:prstGeom prst="rect">
            <a:avLst/>
          </a:prstGeom>
          <a:solidFill>
            <a:srgbClr val="08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371600"/>
            <a:ext cx="12188952" cy="3200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64592"/>
            <a:ext cx="8229600" cy="731520"/>
          </a:xfrm>
          <a:prstGeom prst="rect">
            <a:avLst/>
          </a:prstGeom>
          <a:noFill/>
        </p:spPr>
        <p:txBody>
          <a:bodyPr wrap="square">
            <a:spAutoFit/>
          </a:bodyPr>
          <a:lstStyle/>
          <a:p>
            <a:pPr algn="l"/>
            <a:r>
              <a:rPr sz="3200" b="1" i="0">
                <a:solidFill>
                  <a:srgbClr val="D4AF37"/>
                </a:solidFill>
              </a:rPr>
              <a:t>Admin Panel &amp; Security</a:t>
            </a:r>
          </a:p>
        </p:txBody>
      </p:sp>
      <p:sp>
        <p:nvSpPr>
          <p:cNvPr id="15" name="TextBox 14"/>
          <p:cNvSpPr txBox="1"/>
          <p:nvPr/>
        </p:nvSpPr>
        <p:spPr>
          <a:xfrm>
            <a:off x="502920" y="841248"/>
            <a:ext cx="8229600" cy="457200"/>
          </a:xfrm>
          <a:prstGeom prst="rect">
            <a:avLst/>
          </a:prstGeom>
          <a:noFill/>
        </p:spPr>
        <p:txBody>
          <a:bodyPr wrap="square">
            <a:spAutoFit/>
          </a:bodyPr>
          <a:lstStyle/>
          <a:p>
            <a:pPr algn="l"/>
            <a:r>
              <a:rPr sz="1300" b="0" i="0">
                <a:solidFill>
                  <a:srgbClr val="AAAACC"/>
                </a:solidFill>
              </a:rPr>
              <a:t>Role-based control — only admins can access system management</a:t>
            </a:r>
          </a:p>
        </p:txBody>
      </p:sp>
      <p:pic>
        <p:nvPicPr>
          <p:cNvPr id="16" name="Picture 15" descr="ss_05_admin_panel_1777229543808.png"/>
          <p:cNvPicPr>
            <a:picLocks noChangeAspect="1"/>
          </p:cNvPicPr>
          <p:nvPr/>
        </p:nvPicPr>
        <p:blipFill>
          <a:blip r:embed="rId2"/>
          <a:stretch>
            <a:fillRect/>
          </a:stretch>
        </p:blipFill>
        <p:spPr>
          <a:xfrm>
            <a:off x="365760" y="1508760"/>
            <a:ext cx="6400800" cy="2651760"/>
          </a:xfrm>
          <a:prstGeom prst="rect">
            <a:avLst/>
          </a:prstGeom>
        </p:spPr>
      </p:pic>
      <p:sp>
        <p:nvSpPr>
          <p:cNvPr id="17" name="Rectangle 16"/>
          <p:cNvSpPr/>
          <p:nvPr/>
        </p:nvSpPr>
        <p:spPr>
          <a:xfrm>
            <a:off x="365760" y="1508760"/>
            <a:ext cx="6400800" cy="2651760"/>
          </a:xfrm>
          <a:prstGeom prst="rect">
            <a:avLst/>
          </a:prstGeom>
          <a:no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s_06_admin_chat_history_1777229551518.png"/>
          <p:cNvPicPr>
            <a:picLocks noChangeAspect="1"/>
          </p:cNvPicPr>
          <p:nvPr/>
        </p:nvPicPr>
        <p:blipFill>
          <a:blip r:embed="rId3"/>
          <a:stretch>
            <a:fillRect/>
          </a:stretch>
        </p:blipFill>
        <p:spPr>
          <a:xfrm>
            <a:off x="365760" y="4251960"/>
            <a:ext cx="6400800" cy="1920240"/>
          </a:xfrm>
          <a:prstGeom prst="rect">
            <a:avLst/>
          </a:prstGeom>
        </p:spPr>
      </p:pic>
      <p:sp>
        <p:nvSpPr>
          <p:cNvPr id="19" name="Rectangle 18"/>
          <p:cNvSpPr/>
          <p:nvPr/>
        </p:nvSpPr>
        <p:spPr>
          <a:xfrm>
            <a:off x="365760" y="4251960"/>
            <a:ext cx="6400800" cy="1920240"/>
          </a:xfrm>
          <a:prstGeom prst="rect">
            <a:avLst/>
          </a:prstGeom>
          <a:no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49440" y="1508760"/>
            <a:ext cx="4846320" cy="4663440"/>
          </a:xfrm>
          <a:prstGeom prst="rect">
            <a:avLst/>
          </a:prstGeom>
          <a:solidFill>
            <a:srgbClr val="112045"/>
          </a:solidFill>
          <a:ln w="7620">
            <a:solidFill>
              <a:srgbClr val="223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49440" y="1508760"/>
            <a:ext cx="36576" cy="466344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1664208"/>
            <a:ext cx="4572000" cy="457200"/>
          </a:xfrm>
          <a:prstGeom prst="rect">
            <a:avLst/>
          </a:prstGeom>
          <a:noFill/>
        </p:spPr>
        <p:txBody>
          <a:bodyPr wrap="square">
            <a:spAutoFit/>
          </a:bodyPr>
          <a:lstStyle/>
          <a:p>
            <a:pPr algn="l"/>
            <a:r>
              <a:rPr sz="1800" b="1" i="0">
                <a:solidFill>
                  <a:srgbClr val="F0CC60"/>
                </a:solidFill>
              </a:rPr>
              <a:t>Admin Capabilities</a:t>
            </a:r>
          </a:p>
        </p:txBody>
      </p:sp>
      <p:sp>
        <p:nvSpPr>
          <p:cNvPr id="23" name="Rectangle 22"/>
          <p:cNvSpPr/>
          <p:nvPr/>
        </p:nvSpPr>
        <p:spPr>
          <a:xfrm>
            <a:off x="7132320" y="2176272"/>
            <a:ext cx="4389120" cy="228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50608" y="2359152"/>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33488" y="2304288"/>
            <a:ext cx="4297680" cy="347472"/>
          </a:xfrm>
          <a:prstGeom prst="rect">
            <a:avLst/>
          </a:prstGeom>
          <a:noFill/>
        </p:spPr>
        <p:txBody>
          <a:bodyPr wrap="square">
            <a:spAutoFit/>
          </a:bodyPr>
          <a:lstStyle/>
          <a:p>
            <a:pPr algn="l"/>
            <a:r>
              <a:rPr sz="1300" b="1" i="0">
                <a:solidFill>
                  <a:srgbClr val="FFFFFF"/>
                </a:solidFill>
              </a:rPr>
              <a:t>👤 User Management</a:t>
            </a:r>
          </a:p>
        </p:txBody>
      </p:sp>
      <p:sp>
        <p:nvSpPr>
          <p:cNvPr id="26" name="TextBox 25"/>
          <p:cNvSpPr txBox="1"/>
          <p:nvPr/>
        </p:nvSpPr>
        <p:spPr>
          <a:xfrm>
            <a:off x="7333488" y="2642616"/>
            <a:ext cx="4297680" cy="347472"/>
          </a:xfrm>
          <a:prstGeom prst="rect">
            <a:avLst/>
          </a:prstGeom>
          <a:noFill/>
        </p:spPr>
        <p:txBody>
          <a:bodyPr wrap="square">
            <a:spAutoFit/>
          </a:bodyPr>
          <a:lstStyle/>
          <a:p>
            <a:pPr algn="l"/>
            <a:r>
              <a:rPr sz="1050" b="0" i="0">
                <a:solidFill>
                  <a:srgbClr val="AAAACC"/>
                </a:solidFill>
              </a:rPr>
              <a:t>Full roster of registered users — see ID, name, email, and role at a glance.</a:t>
            </a:r>
          </a:p>
        </p:txBody>
      </p:sp>
      <p:sp>
        <p:nvSpPr>
          <p:cNvPr id="27" name="Oval 26"/>
          <p:cNvSpPr/>
          <p:nvPr/>
        </p:nvSpPr>
        <p:spPr>
          <a:xfrm>
            <a:off x="7150608" y="3118104"/>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063240"/>
            <a:ext cx="4297680" cy="347472"/>
          </a:xfrm>
          <a:prstGeom prst="rect">
            <a:avLst/>
          </a:prstGeom>
          <a:noFill/>
        </p:spPr>
        <p:txBody>
          <a:bodyPr wrap="square">
            <a:spAutoFit/>
          </a:bodyPr>
          <a:lstStyle/>
          <a:p>
            <a:pPr algn="l"/>
            <a:r>
              <a:rPr sz="1300" b="1" i="0">
                <a:solidFill>
                  <a:srgbClr val="FFFFFF"/>
                </a:solidFill>
              </a:rPr>
              <a:t>🔄 Promote / Demote</a:t>
            </a:r>
          </a:p>
        </p:txBody>
      </p:sp>
      <p:sp>
        <p:nvSpPr>
          <p:cNvPr id="29" name="TextBox 28"/>
          <p:cNvSpPr txBox="1"/>
          <p:nvPr/>
        </p:nvSpPr>
        <p:spPr>
          <a:xfrm>
            <a:off x="7333488" y="3401568"/>
            <a:ext cx="4297680" cy="347472"/>
          </a:xfrm>
          <a:prstGeom prst="rect">
            <a:avLst/>
          </a:prstGeom>
          <a:noFill/>
        </p:spPr>
        <p:txBody>
          <a:bodyPr wrap="square">
            <a:spAutoFit/>
          </a:bodyPr>
          <a:lstStyle/>
          <a:p>
            <a:pPr algn="l"/>
            <a:r>
              <a:rPr sz="1050" b="0" i="0">
                <a:solidFill>
                  <a:srgbClr val="AAAACC"/>
                </a:solidFill>
              </a:rPr>
              <a:t>Toggle any user between User and Admin roles with a single button click.</a:t>
            </a:r>
          </a:p>
        </p:txBody>
      </p:sp>
      <p:sp>
        <p:nvSpPr>
          <p:cNvPr id="30" name="Oval 29"/>
          <p:cNvSpPr/>
          <p:nvPr/>
        </p:nvSpPr>
        <p:spPr>
          <a:xfrm>
            <a:off x="7150608" y="3877056"/>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33488" y="3822192"/>
            <a:ext cx="4297680" cy="347472"/>
          </a:xfrm>
          <a:prstGeom prst="rect">
            <a:avLst/>
          </a:prstGeom>
          <a:noFill/>
        </p:spPr>
        <p:txBody>
          <a:bodyPr wrap="square">
            <a:spAutoFit/>
          </a:bodyPr>
          <a:lstStyle/>
          <a:p>
            <a:pPr algn="l"/>
            <a:r>
              <a:rPr sz="1300" b="1" i="0">
                <a:solidFill>
                  <a:srgbClr val="FFFFFF"/>
                </a:solidFill>
              </a:rPr>
              <a:t>🗑️ Account Deletion</a:t>
            </a:r>
          </a:p>
        </p:txBody>
      </p:sp>
      <p:sp>
        <p:nvSpPr>
          <p:cNvPr id="32" name="TextBox 31"/>
          <p:cNvSpPr txBox="1"/>
          <p:nvPr/>
        </p:nvSpPr>
        <p:spPr>
          <a:xfrm>
            <a:off x="7333488" y="4160520"/>
            <a:ext cx="4297680" cy="347472"/>
          </a:xfrm>
          <a:prstGeom prst="rect">
            <a:avLst/>
          </a:prstGeom>
          <a:noFill/>
        </p:spPr>
        <p:txBody>
          <a:bodyPr wrap="square">
            <a:spAutoFit/>
          </a:bodyPr>
          <a:lstStyle/>
          <a:p>
            <a:pPr algn="l"/>
            <a:r>
              <a:rPr sz="1050" b="0" i="0">
                <a:solidFill>
                  <a:srgbClr val="AAAACC"/>
                </a:solidFill>
              </a:rPr>
              <a:t>Remove any account instantly. Built-in guard prevents admins from deleting themselves.</a:t>
            </a:r>
          </a:p>
        </p:txBody>
      </p:sp>
      <p:sp>
        <p:nvSpPr>
          <p:cNvPr id="33" name="Oval 32"/>
          <p:cNvSpPr/>
          <p:nvPr/>
        </p:nvSpPr>
        <p:spPr>
          <a:xfrm>
            <a:off x="7150608" y="4636008"/>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581144"/>
            <a:ext cx="4297680" cy="347472"/>
          </a:xfrm>
          <a:prstGeom prst="rect">
            <a:avLst/>
          </a:prstGeom>
          <a:noFill/>
        </p:spPr>
        <p:txBody>
          <a:bodyPr wrap="square">
            <a:spAutoFit/>
          </a:bodyPr>
          <a:lstStyle/>
          <a:p>
            <a:pPr algn="l"/>
            <a:r>
              <a:rPr sz="1300" b="1" i="0">
                <a:solidFill>
                  <a:srgbClr val="FFFFFF"/>
                </a:solidFill>
              </a:rPr>
              <a:t>📜 Recipe History</a:t>
            </a:r>
          </a:p>
        </p:txBody>
      </p:sp>
      <p:sp>
        <p:nvSpPr>
          <p:cNvPr id="35" name="TextBox 34"/>
          <p:cNvSpPr txBox="1"/>
          <p:nvPr/>
        </p:nvSpPr>
        <p:spPr>
          <a:xfrm>
            <a:off x="7333488" y="4919472"/>
            <a:ext cx="4297680" cy="347472"/>
          </a:xfrm>
          <a:prstGeom prst="rect">
            <a:avLst/>
          </a:prstGeom>
          <a:noFill/>
        </p:spPr>
        <p:txBody>
          <a:bodyPr wrap="square">
            <a:spAutoFit/>
          </a:bodyPr>
          <a:lstStyle/>
          <a:p>
            <a:pPr algn="l"/>
            <a:r>
              <a:rPr sz="1050" b="0" i="0">
                <a:solidFill>
                  <a:srgbClr val="AAAACC"/>
                </a:solidFill>
              </a:rPr>
              <a:t>Browse every AI-generated recipe across all users — user email, recipe name, timestamp.</a:t>
            </a:r>
          </a:p>
        </p:txBody>
      </p:sp>
      <p:sp>
        <p:nvSpPr>
          <p:cNvPr id="36" name="Oval 35"/>
          <p:cNvSpPr/>
          <p:nvPr/>
        </p:nvSpPr>
        <p:spPr>
          <a:xfrm>
            <a:off x="7150608" y="5394960"/>
            <a:ext cx="109728" cy="10972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33488" y="5340096"/>
            <a:ext cx="4297680" cy="347472"/>
          </a:xfrm>
          <a:prstGeom prst="rect">
            <a:avLst/>
          </a:prstGeom>
          <a:noFill/>
        </p:spPr>
        <p:txBody>
          <a:bodyPr wrap="square">
            <a:spAutoFit/>
          </a:bodyPr>
          <a:lstStyle/>
          <a:p>
            <a:pPr algn="l"/>
            <a:r>
              <a:rPr sz="1300" b="1" i="0">
                <a:solidFill>
                  <a:srgbClr val="FFFFFF"/>
                </a:solidFill>
              </a:rPr>
              <a:t>💬 Chat Log Viewer</a:t>
            </a:r>
          </a:p>
        </p:txBody>
      </p:sp>
      <p:sp>
        <p:nvSpPr>
          <p:cNvPr id="38" name="TextBox 37"/>
          <p:cNvSpPr txBox="1"/>
          <p:nvPr/>
        </p:nvSpPr>
        <p:spPr>
          <a:xfrm>
            <a:off x="7333488" y="5678424"/>
            <a:ext cx="4297680" cy="347472"/>
          </a:xfrm>
          <a:prstGeom prst="rect">
            <a:avLst/>
          </a:prstGeom>
          <a:noFill/>
        </p:spPr>
        <p:txBody>
          <a:bodyPr wrap="square">
            <a:spAutoFit/>
          </a:bodyPr>
          <a:lstStyle/>
          <a:p>
            <a:pPr algn="l"/>
            <a:r>
              <a:rPr sz="1050" b="0" i="0">
                <a:solidFill>
                  <a:srgbClr val="AAAACC"/>
                </a:solidFill>
              </a:rPr>
              <a:t>Read full conversation transcripts of any session. View button opens a modal overlay.</a:t>
            </a:r>
          </a:p>
        </p:txBody>
      </p:sp>
      <p:sp>
        <p:nvSpPr>
          <p:cNvPr id="39" name="Rectangle 38"/>
          <p:cNvSpPr/>
          <p:nvPr/>
        </p:nvSpPr>
        <p:spPr>
          <a:xfrm>
            <a:off x="365760" y="4169663"/>
            <a:ext cx="6400800" cy="256032"/>
          </a:xfrm>
          <a:prstGeom prst="rect">
            <a:avLst/>
          </a:prstGeom>
          <a:solidFill>
            <a:srgbClr val="091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4187952"/>
            <a:ext cx="6217920" cy="219456"/>
          </a:xfrm>
          <a:prstGeom prst="rect">
            <a:avLst/>
          </a:prstGeom>
          <a:noFill/>
        </p:spPr>
        <p:txBody>
          <a:bodyPr wrap="square">
            <a:spAutoFit/>
          </a:bodyPr>
          <a:lstStyle/>
          <a:p>
            <a:pPr algn="l"/>
            <a:r>
              <a:rPr sz="900" b="0" i="1">
                <a:solidFill>
                  <a:srgbClr val="666688"/>
                </a:solidFill>
              </a:rPr>
              <a:t>↑ Registered users table with role badges and action buttons</a:t>
            </a:r>
          </a:p>
        </p:txBody>
      </p:sp>
      <p:sp>
        <p:nvSpPr>
          <p:cNvPr id="41" name="Rectangle 40"/>
          <p:cNvSpPr/>
          <p:nvPr/>
        </p:nvSpPr>
        <p:spPr>
          <a:xfrm>
            <a:off x="365760" y="6172200"/>
            <a:ext cx="6400800" cy="256032"/>
          </a:xfrm>
          <a:prstGeom prst="rect">
            <a:avLst/>
          </a:prstGeom>
          <a:solidFill>
            <a:srgbClr val="091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6190488"/>
            <a:ext cx="6217920" cy="219456"/>
          </a:xfrm>
          <a:prstGeom prst="rect">
            <a:avLst/>
          </a:prstGeom>
          <a:noFill/>
        </p:spPr>
        <p:txBody>
          <a:bodyPr wrap="square">
            <a:spAutoFit/>
          </a:bodyPr>
          <a:lstStyle/>
          <a:p>
            <a:pPr algn="l"/>
            <a:r>
              <a:rPr sz="900" b="0" i="1">
                <a:solidFill>
                  <a:srgbClr val="666688"/>
                </a:solidFill>
              </a:rPr>
              <a:t>↑ Global chat session history with user email, title, and view/delete controls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028"/>
        </a:solidFill>
        <a:effectLst/>
      </p:bgPr>
    </p:bg>
    <p:spTree>
      <p:nvGrpSpPr>
        <p:cNvPr id="1" name=""/>
        <p:cNvGrpSpPr/>
        <p:nvPr/>
      </p:nvGrpSpPr>
      <p:grpSpPr/>
      <p:sp>
        <p:nvSpPr>
          <p:cNvPr id="2" name="Oval 1"/>
          <p:cNvSpPr/>
          <p:nvPr/>
        </p:nvSpPr>
        <p:spPr>
          <a:xfrm>
            <a:off x="2924575" y="3574942"/>
            <a:ext cx="70404" cy="7040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140908" y="4096550"/>
            <a:ext cx="42567" cy="42567"/>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34594" y="5451912"/>
            <a:ext cx="60291" cy="60291"/>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882710" y="6464363"/>
            <a:ext cx="79576" cy="7957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820120" y="3140481"/>
            <a:ext cx="95012" cy="950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18198" y="4155056"/>
            <a:ext cx="115950" cy="11595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210680" y="4836044"/>
            <a:ext cx="97969" cy="97969"/>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0614" y="4944720"/>
            <a:ext cx="90626" cy="9062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653917" y="289940"/>
            <a:ext cx="115719" cy="115719"/>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29630" y="4692488"/>
            <a:ext cx="116934" cy="11693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10679" y="5987208"/>
            <a:ext cx="72691" cy="72691"/>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10502" y="2937370"/>
            <a:ext cx="122126" cy="12212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08689" y="715225"/>
            <a:ext cx="49008" cy="4900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682882" y="6271285"/>
            <a:ext cx="76458" cy="7645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02770" y="2018248"/>
            <a:ext cx="82958" cy="8295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628614" y="2337547"/>
            <a:ext cx="90075" cy="90075"/>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14301" y="5879054"/>
            <a:ext cx="98936" cy="98936"/>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885671" y="5573088"/>
            <a:ext cx="127192" cy="12719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16917" y="1135408"/>
            <a:ext cx="115272" cy="11527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296840" y="5882218"/>
            <a:ext cx="88615" cy="88615"/>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07079" y="1442808"/>
            <a:ext cx="112618" cy="11261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790798" y="1915395"/>
            <a:ext cx="42378" cy="4237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21527" y="6426990"/>
            <a:ext cx="44670" cy="4467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06890" y="2718724"/>
            <a:ext cx="50361" cy="50361"/>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411480"/>
            <a:ext cx="10744200" cy="6035040"/>
          </a:xfrm>
          <a:prstGeom prst="rect">
            <a:avLst/>
          </a:prstGeom>
          <a:solidFill>
            <a:srgbClr val="0A1632"/>
          </a:solidFill>
          <a:ln w="101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411480"/>
            <a:ext cx="10744200" cy="8229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6446520"/>
            <a:ext cx="10744200" cy="8229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9240" y="822960"/>
            <a:ext cx="1463040" cy="960120"/>
          </a:xfrm>
          <a:prstGeom prst="rect">
            <a:avLst/>
          </a:prstGeom>
          <a:noFill/>
        </p:spPr>
        <p:txBody>
          <a:bodyPr wrap="square">
            <a:spAutoFit/>
          </a:bodyPr>
          <a:lstStyle/>
          <a:p>
            <a:pPr algn="ctr"/>
            <a:r>
              <a:rPr sz="5200" b="0" i="0">
                <a:solidFill>
                  <a:srgbClr val="FFFFFF"/>
                </a:solidFill>
              </a:rPr>
              <a:t>🍹</a:t>
            </a:r>
          </a:p>
        </p:txBody>
      </p:sp>
      <p:sp>
        <p:nvSpPr>
          <p:cNvPr id="30" name="TextBox 29"/>
          <p:cNvSpPr txBox="1"/>
          <p:nvPr/>
        </p:nvSpPr>
        <p:spPr>
          <a:xfrm>
            <a:off x="1097280" y="1664208"/>
            <a:ext cx="10058400" cy="960120"/>
          </a:xfrm>
          <a:prstGeom prst="rect">
            <a:avLst/>
          </a:prstGeom>
          <a:noFill/>
        </p:spPr>
        <p:txBody>
          <a:bodyPr wrap="square">
            <a:spAutoFit/>
          </a:bodyPr>
          <a:lstStyle/>
          <a:p>
            <a:pPr algn="ctr"/>
            <a:r>
              <a:rPr sz="6000" b="1" i="0">
                <a:solidFill>
                  <a:srgbClr val="D4AF37"/>
                </a:solidFill>
              </a:rPr>
              <a:t>Thank You!</a:t>
            </a:r>
          </a:p>
        </p:txBody>
      </p:sp>
      <p:sp>
        <p:nvSpPr>
          <p:cNvPr id="31" name="Rectangle 30"/>
          <p:cNvSpPr/>
          <p:nvPr/>
        </p:nvSpPr>
        <p:spPr>
          <a:xfrm>
            <a:off x="3291840" y="2633472"/>
            <a:ext cx="5669280" cy="3200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71600" y="2761488"/>
            <a:ext cx="9509760" cy="502920"/>
          </a:xfrm>
          <a:prstGeom prst="rect">
            <a:avLst/>
          </a:prstGeom>
          <a:noFill/>
        </p:spPr>
        <p:txBody>
          <a:bodyPr wrap="square">
            <a:spAutoFit/>
          </a:bodyPr>
          <a:lstStyle/>
          <a:p>
            <a:pPr algn="ctr"/>
            <a:r>
              <a:rPr sz="1900" b="0" i="1">
                <a:solidFill>
                  <a:srgbClr val="AAAACC"/>
                </a:solidFill>
              </a:rPr>
              <a:t>MixBot — Your AI-Powered Cocktail Mixologist</a:t>
            </a:r>
          </a:p>
        </p:txBody>
      </p:sp>
      <p:sp>
        <p:nvSpPr>
          <p:cNvPr id="33" name="TextBox 32"/>
          <p:cNvSpPr txBox="1"/>
          <p:nvPr/>
        </p:nvSpPr>
        <p:spPr>
          <a:xfrm>
            <a:off x="1371600" y="3017520"/>
            <a:ext cx="4754880" cy="347472"/>
          </a:xfrm>
          <a:prstGeom prst="rect">
            <a:avLst/>
          </a:prstGeom>
          <a:noFill/>
        </p:spPr>
        <p:txBody>
          <a:bodyPr wrap="square">
            <a:spAutoFit/>
          </a:bodyPr>
          <a:lstStyle/>
          <a:p>
            <a:pPr algn="l"/>
            <a:r>
              <a:rPr sz="1200" b="1" i="0">
                <a:solidFill>
                  <a:srgbClr val="F0CC60"/>
                </a:solidFill>
              </a:rPr>
              <a:t>Project Achievements</a:t>
            </a:r>
          </a:p>
        </p:txBody>
      </p:sp>
      <p:sp>
        <p:nvSpPr>
          <p:cNvPr id="34" name="TextBox 33"/>
          <p:cNvSpPr txBox="1"/>
          <p:nvPr/>
        </p:nvSpPr>
        <p:spPr>
          <a:xfrm>
            <a:off x="6492240" y="3017520"/>
            <a:ext cx="4754880" cy="347472"/>
          </a:xfrm>
          <a:prstGeom prst="rect">
            <a:avLst/>
          </a:prstGeom>
          <a:noFill/>
        </p:spPr>
        <p:txBody>
          <a:bodyPr wrap="square">
            <a:spAutoFit/>
          </a:bodyPr>
          <a:lstStyle/>
          <a:p>
            <a:pPr algn="l"/>
            <a:r>
              <a:rPr sz="1200" b="1" i="0">
                <a:solidFill>
                  <a:srgbClr val="F0CC60"/>
                </a:solidFill>
              </a:rPr>
              <a:t>Project Achievements</a:t>
            </a:r>
          </a:p>
        </p:txBody>
      </p:sp>
      <p:sp>
        <p:nvSpPr>
          <p:cNvPr id="35" name="Oval 34"/>
          <p:cNvSpPr/>
          <p:nvPr/>
        </p:nvSpPr>
        <p:spPr>
          <a:xfrm>
            <a:off x="1371600" y="3438144"/>
            <a:ext cx="109728" cy="109728"/>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572768" y="3364992"/>
            <a:ext cx="4846320" cy="347472"/>
          </a:xfrm>
          <a:prstGeom prst="rect">
            <a:avLst/>
          </a:prstGeom>
          <a:noFill/>
        </p:spPr>
        <p:txBody>
          <a:bodyPr wrap="square">
            <a:spAutoFit/>
          </a:bodyPr>
          <a:lstStyle/>
          <a:p>
            <a:pPr algn="l"/>
            <a:r>
              <a:rPr sz="1250" b="0" i="0">
                <a:solidFill>
                  <a:srgbClr val="FFFFFF"/>
                </a:solidFill>
              </a:rPr>
              <a:t>Full-stack web application (FastAPI + Vanilla JS)</a:t>
            </a:r>
          </a:p>
        </p:txBody>
      </p:sp>
      <p:sp>
        <p:nvSpPr>
          <p:cNvPr id="37" name="Oval 36"/>
          <p:cNvSpPr/>
          <p:nvPr/>
        </p:nvSpPr>
        <p:spPr>
          <a:xfrm>
            <a:off x="1371600" y="3849624"/>
            <a:ext cx="109728" cy="109728"/>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72768" y="3776472"/>
            <a:ext cx="4846320" cy="347472"/>
          </a:xfrm>
          <a:prstGeom prst="rect">
            <a:avLst/>
          </a:prstGeom>
          <a:noFill/>
        </p:spPr>
        <p:txBody>
          <a:bodyPr wrap="square">
            <a:spAutoFit/>
          </a:bodyPr>
          <a:lstStyle/>
          <a:p>
            <a:pPr algn="l"/>
            <a:r>
              <a:rPr sz="1250" b="0" i="0">
                <a:solidFill>
                  <a:srgbClr val="FFFFFF"/>
                </a:solidFill>
              </a:rPr>
              <a:t>Gemini 2.0 Flash via OpenRouter integration</a:t>
            </a:r>
          </a:p>
        </p:txBody>
      </p:sp>
      <p:sp>
        <p:nvSpPr>
          <p:cNvPr id="39" name="Oval 38"/>
          <p:cNvSpPr/>
          <p:nvPr/>
        </p:nvSpPr>
        <p:spPr>
          <a:xfrm>
            <a:off x="1371600" y="4261104"/>
            <a:ext cx="109728" cy="109728"/>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72768" y="4187952"/>
            <a:ext cx="4846320" cy="347472"/>
          </a:xfrm>
          <a:prstGeom prst="rect">
            <a:avLst/>
          </a:prstGeom>
          <a:noFill/>
        </p:spPr>
        <p:txBody>
          <a:bodyPr wrap="square">
            <a:spAutoFit/>
          </a:bodyPr>
          <a:lstStyle/>
          <a:p>
            <a:pPr algn="l"/>
            <a:r>
              <a:rPr sz="1250" b="0" i="0">
                <a:solidFill>
                  <a:srgbClr val="FFFFFF"/>
                </a:solidFill>
              </a:rPr>
              <a:t>JWT &amp; Google OAuth authentication system</a:t>
            </a:r>
          </a:p>
        </p:txBody>
      </p:sp>
      <p:sp>
        <p:nvSpPr>
          <p:cNvPr id="41" name="Oval 40"/>
          <p:cNvSpPr/>
          <p:nvPr/>
        </p:nvSpPr>
        <p:spPr>
          <a:xfrm>
            <a:off x="6492240" y="3438144"/>
            <a:ext cx="109728" cy="109728"/>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93408" y="3364992"/>
            <a:ext cx="4846320" cy="347472"/>
          </a:xfrm>
          <a:prstGeom prst="rect">
            <a:avLst/>
          </a:prstGeom>
          <a:noFill/>
        </p:spPr>
        <p:txBody>
          <a:bodyPr wrap="square">
            <a:spAutoFit/>
          </a:bodyPr>
          <a:lstStyle/>
          <a:p>
            <a:pPr algn="l"/>
            <a:r>
              <a:rPr sz="1250" b="0" i="0">
                <a:solidFill>
                  <a:srgbClr val="FFFFFF"/>
                </a:solidFill>
              </a:rPr>
              <a:t>Persistent multi-session chat history (SQLite)</a:t>
            </a:r>
          </a:p>
        </p:txBody>
      </p:sp>
      <p:sp>
        <p:nvSpPr>
          <p:cNvPr id="43" name="Oval 42"/>
          <p:cNvSpPr/>
          <p:nvPr/>
        </p:nvSpPr>
        <p:spPr>
          <a:xfrm>
            <a:off x="6492240" y="3849624"/>
            <a:ext cx="109728" cy="109728"/>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93408" y="3776472"/>
            <a:ext cx="4846320" cy="347472"/>
          </a:xfrm>
          <a:prstGeom prst="rect">
            <a:avLst/>
          </a:prstGeom>
          <a:noFill/>
        </p:spPr>
        <p:txBody>
          <a:bodyPr wrap="square">
            <a:spAutoFit/>
          </a:bodyPr>
          <a:lstStyle/>
          <a:p>
            <a:pPr algn="l"/>
            <a:r>
              <a:rPr sz="1250" b="0" i="0">
                <a:solidFill>
                  <a:srgbClr val="FFFFFF"/>
                </a:solidFill>
              </a:rPr>
              <a:t>Admin dashboard: users, recipes &amp; chat logs</a:t>
            </a:r>
          </a:p>
        </p:txBody>
      </p:sp>
      <p:sp>
        <p:nvSpPr>
          <p:cNvPr id="45" name="Oval 44"/>
          <p:cNvSpPr/>
          <p:nvPr/>
        </p:nvSpPr>
        <p:spPr>
          <a:xfrm>
            <a:off x="6492240" y="4261104"/>
            <a:ext cx="109728" cy="109728"/>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93408" y="4187952"/>
            <a:ext cx="4846320" cy="347472"/>
          </a:xfrm>
          <a:prstGeom prst="rect">
            <a:avLst/>
          </a:prstGeom>
          <a:noFill/>
        </p:spPr>
        <p:txBody>
          <a:bodyPr wrap="square">
            <a:spAutoFit/>
          </a:bodyPr>
          <a:lstStyle/>
          <a:p>
            <a:pPr algn="l"/>
            <a:r>
              <a:rPr sz="1250" b="0" i="0">
                <a:solidFill>
                  <a:srgbClr val="FFFFFF"/>
                </a:solidFill>
              </a:rPr>
              <a:t>Premium glassmorphism UI with particle animations</a:t>
            </a:r>
          </a:p>
        </p:txBody>
      </p:sp>
      <p:sp>
        <p:nvSpPr>
          <p:cNvPr id="47" name="Rectangle 46"/>
          <p:cNvSpPr/>
          <p:nvPr/>
        </p:nvSpPr>
        <p:spPr>
          <a:xfrm>
            <a:off x="1097280" y="5669280"/>
            <a:ext cx="10058400" cy="32004"/>
          </a:xfrm>
          <a:prstGeom prst="rect">
            <a:avLst/>
          </a:prstGeom>
          <a:solidFill>
            <a:srgbClr val="20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742432"/>
            <a:ext cx="10058400" cy="365760"/>
          </a:xfrm>
          <a:prstGeom prst="rect">
            <a:avLst/>
          </a:prstGeom>
          <a:noFill/>
        </p:spPr>
        <p:txBody>
          <a:bodyPr wrap="square">
            <a:spAutoFit/>
          </a:bodyPr>
          <a:lstStyle/>
          <a:p>
            <a:pPr algn="ctr"/>
            <a:r>
              <a:rPr sz="1150" b="0" i="0">
                <a:solidFill>
                  <a:srgbClr val="666688"/>
                </a:solidFill>
              </a:rPr>
              <a:t>Built with  Python · FastAPI · Google Gemini AI · HTML5 / CSS3 / JavaScript</a:t>
            </a:r>
          </a:p>
        </p:txBody>
      </p:sp>
      <p:sp>
        <p:nvSpPr>
          <p:cNvPr id="49" name="TextBox 48"/>
          <p:cNvSpPr txBox="1"/>
          <p:nvPr/>
        </p:nvSpPr>
        <p:spPr>
          <a:xfrm>
            <a:off x="1097280" y="6099048"/>
            <a:ext cx="10058400" cy="320040"/>
          </a:xfrm>
          <a:prstGeom prst="rect">
            <a:avLst/>
          </a:prstGeom>
          <a:noFill/>
        </p:spPr>
        <p:txBody>
          <a:bodyPr wrap="square">
            <a:spAutoFit/>
          </a:bodyPr>
          <a:lstStyle/>
          <a:p>
            <a:pPr algn="ctr"/>
            <a:r>
              <a:rPr sz="1050" b="0" i="0">
                <a:solidFill>
                  <a:srgbClr val="666688"/>
                </a:solidFill>
              </a:rPr>
              <a:t>AI Essentials Capstone Project  |  April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